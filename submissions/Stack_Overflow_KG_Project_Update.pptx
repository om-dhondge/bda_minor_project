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Spark (distributed)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GB</c:v>
                  </c:pt>
                  <c:pt idx="1">
                    <c:v>5 GB</c:v>
                  </c:pt>
                  <c:pt idx="2">
                    <c:v>10 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4.8</c:v>
                </c:pt>
                <c:pt idx="2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NetworkX (single)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GB</c:v>
                  </c:pt>
                  <c:pt idx="1">
                    <c:v>5 GB</c:v>
                  </c:pt>
                  <c:pt idx="2">
                    <c:v>10 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</c:v>
                </c:pt>
                <c:pt idx="1">
                  <c:v>18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548640"/>
            <a:ext cx="822960" cy="36576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046720" y="914400"/>
            <a:ext cx="365760" cy="64008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554480"/>
            <a:ext cx="640080" cy="54864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680960" y="1554480"/>
            <a:ext cx="365760" cy="73152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321040" y="2103120"/>
            <a:ext cx="365760" cy="73152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286000"/>
            <a:ext cx="640080" cy="54864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315200" y="2286000"/>
            <a:ext cx="365760" cy="82296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955280" y="2834640"/>
            <a:ext cx="365760" cy="73152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108960"/>
            <a:ext cx="640080" cy="45720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25512" y="4846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48472" y="85039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82712" y="1490472"/>
            <a:ext cx="128016" cy="128016"/>
          </a:xfrm>
          <a:prstGeom prst="ellipse">
            <a:avLst/>
          </a:prstGeom>
          <a:solidFill>
            <a:srgbClr val="F48024"/>
          </a:solidFill>
          <a:ln w="12700">
            <a:solidFill>
              <a:srgbClr val="F480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203911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2" y="222199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770632"/>
            <a:ext cx="128016" cy="128016"/>
          </a:xfrm>
          <a:prstGeom prst="ellipse">
            <a:avLst/>
          </a:prstGeom>
          <a:solidFill>
            <a:srgbClr val="F48024"/>
          </a:solidFill>
          <a:ln w="12700">
            <a:solidFill>
              <a:srgbClr val="F480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1192" y="30449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91272" y="35021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 ·  BIG DATA SPECIALIZATION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1280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Overflow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548640" y="20116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 Analytics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the developer network with distributed graph processing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Dhondge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Satyam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Mayur Pandya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 building, in one slide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Overflow's data dump contains over a decade of developer knowledge exchange, but it ships as flat XML tables with no graph structure.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inside those tables are millions of relationships. Who answers whom. Which technologies sit close together in practice. Which users quietly bridge whole communities.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pulls that graph out, runs distributed algorithms on it, and turns the results into something a person can actually read.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49240" y="1234440"/>
            <a:ext cx="3611880" cy="3246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691640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leaderboards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50992" y="1883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structural authority, not just reputation points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404872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2340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community maps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50992" y="2596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discovered from real co-occurrence, not declared categories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3118104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3054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visualizations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50992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layouts that show how the ecosystem is organized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3831336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50992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with leaderboards, heatmaps, and trends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BIG DATA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that put it out of reach for standard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 GB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data dump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364 XML 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9272" y="1234440"/>
            <a:ext cx="269748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234440"/>
            <a:ext cx="64008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58M+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502152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2395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2008, all interlinked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69748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234440"/>
            <a:ext cx="64008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325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23M+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364224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accounts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23957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tagging, voting, answering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753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10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8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PANDAS AND NETWORKX HIT A WALL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can group, count, and aggregate. It cannot tell you which user bridges the Python and JavaScript communities, or whether React is moving closer to TypeScript over time.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questions need graph algorithms running over millions of edges, which is exactly what NetworkX cannot do at this scale on a single machine.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phases. Where we are. What comes next.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627632" cy="1874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162763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 &amp; Parse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to Parquet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94076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834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30552" y="1325880"/>
            <a:ext cx="1627632" cy="1874520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30552" y="1325880"/>
            <a:ext cx="162763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5087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267712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Graph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67712" y="24688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 nodes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67712" y="28163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9152" y="289407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5456" y="2834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9624" y="1325880"/>
            <a:ext cx="16276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9624" y="1325880"/>
            <a:ext cx="1627632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15087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986784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Algorithms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86784" y="24688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PageRank, LPA, more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86784" y="28163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78224" y="2894076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2834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68696" y="1325880"/>
            <a:ext cx="16276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68696" y="1325880"/>
            <a:ext cx="1627632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15087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705856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05856" y="24688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 + Streamlit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05856" y="28163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97296" y="2894076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34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87768" y="1325880"/>
            <a:ext cx="1627632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87768" y="1325880"/>
            <a:ext cx="1627632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24928" y="15087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424928" y="20574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&amp; Report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24928" y="246888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vs NetworkX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24928" y="281635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2894076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62672" y="28346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87168" y="3456432"/>
            <a:ext cx="9144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87168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98648" y="3749040"/>
            <a:ext cx="914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Phase 1 wrapped. Parquet files are written. Phase 2 starts now, building the multi-relational graph from the cleaned data.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Acquire, filter, parse, and store. Done.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89520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175004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1115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87452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874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data dump pulled from the Stack Exchange data portal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04288" y="265176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1691640"/>
            <a:ext cx="187452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874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to the past 2 to 3 years and the 50 most active tags; dropped low-quality and orphan posts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53128" y="265176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09160" y="1691640"/>
            <a:ext cx="187452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874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loaded into PySpark using lxml; null handling, type casting, deduplication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01968" y="2651760"/>
            <a:ext cx="23774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0" y="1691640"/>
            <a:ext cx="187452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874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0" y="2788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out as partitioned Parquet, ready for graph construction in Phase 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tidy Parquet dataset, partitioned by year and tag, that fits comfortably on a laptop and runs efficiently on Spark.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BY THE NUMBERS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came out of the filter and parse pass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690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 GB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8803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dataset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98 GB raw, after 2 to 3 year window and tag filter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17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0866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kept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1920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active by question volume, covering most of the ecosystem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40690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62072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99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~3.2M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880360" y="3136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retained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502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plus answers after deduplication and quality filters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862072"/>
            <a:ext cx="40690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62072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992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~480K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086600" y="3136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at least one post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3502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node set for the user side of the graph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above are working estimates. We will lock in the final figures once Phase 2 edge construction confirms the graph dimensions.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UPDATE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images as a fourth node 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7532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FROM ORIGINAL SYNOPSIS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plan had three node types. We are extending it to four.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THE GRAPH BETTER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pass.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dropped posts with broken or unreachable image links so we are not training analytics on dead references.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addition.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images become a fourth node type. A post-embeds-image edge captures when answers rely on diagrams or screenshots, which is a real signal for visual learners and for technologies like CSS, design tools, and front-end frameworks.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pays off.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ask new questions, like which technology communities lean visual, and which users contribute the most explanatory diagrams.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2194560"/>
            <a:ext cx="169164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2860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60604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310896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3611880"/>
            <a:ext cx="274320" cy="2743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14032" y="3246120"/>
            <a:ext cx="2743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2194560"/>
            <a:ext cx="1280160" cy="22402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286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43800" y="2560320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25603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2980944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45552" y="29809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43800" y="3401568"/>
            <a:ext cx="237744" cy="23774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34015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3822192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8221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KNOWLEDGE GRAPH SCHEMA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node types, four edge types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7532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670048"/>
            <a:ext cx="1755648" cy="0"/>
          </a:xfrm>
          <a:prstGeom prst="line">
            <a:avLst/>
          </a:prstGeom>
          <a:noFill/>
          <a:ln w="2286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33172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175564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331720" y="2971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V="1">
            <a:off x="5212080" y="1993392"/>
            <a:ext cx="1828800" cy="640080"/>
          </a:xfrm>
          <a:prstGeom prst="line">
            <a:avLst/>
          </a:prstGeom>
          <a:noFill/>
          <a:ln w="2286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2157984"/>
            <a:ext cx="128016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139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944368"/>
            <a:ext cx="1828800" cy="64008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3145536"/>
            <a:ext cx="1005840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127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" y="2468880"/>
            <a:ext cx="118872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23360" y="2468880"/>
            <a:ext cx="118872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2468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1600200"/>
            <a:ext cx="1188720" cy="64008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3337560"/>
            <a:ext cx="118872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3337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3456432"/>
            <a:ext cx="4572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4564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82753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159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4315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answers Question  ·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tagged with Tag  ·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votes on Question  ·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embeds Image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BUILDING THE 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construction with PySpark joins, starting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89520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17500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1115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CONSTRUCTION PLAN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answers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2029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PostTypeId and ParentId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tagged with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2596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the Tags column into edge 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916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votes on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3163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Votes against Users and Posts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4838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embeds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over post body to extract image URLs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1417320"/>
            <a:ext cx="301752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 WILL USE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189280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18288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joins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2075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edge lists from Parquet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248716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42316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GraphFrames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26700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graph for algorithms in Phase 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97880" y="308152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017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(bulk import)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264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 queries via Cypher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97880" y="3675888"/>
            <a:ext cx="9144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6118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3858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 on node and edge counts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GRAPH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algorithms, four questions to answer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89520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175004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1115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69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91440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PageRank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AUTHORITY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users by structural importance in the answer network. Often surfaces people who are influential without having the highest reputation score.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25877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iterations · damping 0.85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4069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25880"/>
            <a:ext cx="91440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Propagation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tags into technology communities by propagating labels through co-occurrence edges. Reveals clusters that no one declared explicitly.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58775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 threshold ~0.95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69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Connected Components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SUBGRAPHS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technology niches that are largely self-contained. A useful sanity check and a way to spot fringe communities worth highlighting.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2793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Spark stage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17520"/>
            <a:ext cx="9144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08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Triangle Count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937760" y="34747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DENSITY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7033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tightly knit different parts of the user network are. Higher counts mean more three-way collaboration patterns in that area.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37760" y="427939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per-vertex aggregation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comparing PageRank scores against Stack Overflow's reputation points tells us where the platform's metric agrees with structure, and where it does not.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VISUALIZATION AND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 the graph into something readable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89520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175004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1115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6908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maps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72744" y="2472904"/>
            <a:ext cx="603948" cy="270296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14738" y="2743200"/>
            <a:ext cx="1788394" cy="499057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1244" y="2615714"/>
            <a:ext cx="108986" cy="310366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206820" y="2801833"/>
            <a:ext cx="822568" cy="909005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76692" y="2743200"/>
            <a:ext cx="302198" cy="1115815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14738" y="2743200"/>
            <a:ext cx="1042060" cy="506657"/>
          </a:xfrm>
          <a:prstGeom prst="line">
            <a:avLst/>
          </a:prstGeom>
          <a:noFill/>
          <a:ln w="635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19333" y="2685841"/>
            <a:ext cx="114717" cy="11471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6843" y="2934771"/>
            <a:ext cx="106760" cy="106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64647" y="2995069"/>
            <a:ext cx="150552" cy="1505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44059" y="2672522"/>
            <a:ext cx="141357" cy="14135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1833" y="2401992"/>
            <a:ext cx="141823" cy="141823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0702" y="2460723"/>
            <a:ext cx="153657" cy="153657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5750" y="2851600"/>
            <a:ext cx="148960" cy="148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9879" y="3189004"/>
            <a:ext cx="106506" cy="10650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26605" y="3075010"/>
            <a:ext cx="142074" cy="14207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56103" y="2728548"/>
            <a:ext cx="146569" cy="146569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8410" y="2552880"/>
            <a:ext cx="125667" cy="12566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73284" y="3432796"/>
            <a:ext cx="175288" cy="175288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776" y="3794901"/>
            <a:ext cx="128228" cy="128228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0382" y="3654399"/>
            <a:ext cx="112877" cy="112877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14959" y="3312776"/>
            <a:ext cx="169527" cy="169527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90705" y="3183765"/>
            <a:ext cx="132185" cy="132185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layout, colored by community label, sized by PageRank score.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1417320"/>
            <a:ext cx="406908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dashboard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846320" y="2240280"/>
            <a:ext cx="17830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2660904"/>
            <a:ext cx="109728" cy="822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48072" y="2592324"/>
            <a:ext cx="109728" cy="1508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12664" y="2619756"/>
            <a:ext cx="109728" cy="1234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77256" y="2551176"/>
            <a:ext cx="109728" cy="1920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41848" y="2606040"/>
            <a:ext cx="109728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leaderboard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0840" y="2240280"/>
            <a:ext cx="17830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251460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25146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3800" y="251460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25146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269748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26974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2697480"/>
            <a:ext cx="73152" cy="7315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26974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12280" y="2834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3108960"/>
            <a:ext cx="17830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83480" y="3273552"/>
            <a:ext cx="164592" cy="73152"/>
          </a:xfrm>
          <a:prstGeom prst="rect">
            <a:avLst/>
          </a:prstGeom>
          <a:solidFill>
            <a:srgbClr val="14B8A6">
              <a:alpha val="7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66360" y="3273552"/>
            <a:ext cx="164592" cy="73152"/>
          </a:xfrm>
          <a:prstGeom prst="rect">
            <a:avLst/>
          </a:prstGeom>
          <a:solidFill>
            <a:srgbClr val="14B8A6">
              <a:alpha val="6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9240" y="3273552"/>
            <a:ext cx="164592" cy="73152"/>
          </a:xfrm>
          <a:prstGeom prst="rect">
            <a:avLst/>
          </a:prstGeom>
          <a:solidFill>
            <a:srgbClr val="14B8A6">
              <a:alpha val="5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32120" y="3273552"/>
            <a:ext cx="164592" cy="73152"/>
          </a:xfrm>
          <a:prstGeom prst="rect">
            <a:avLst/>
          </a:prstGeom>
          <a:solidFill>
            <a:srgbClr val="14B8A6">
              <a:alpha val="4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15000" y="3273552"/>
            <a:ext cx="164592" cy="73152"/>
          </a:xfrm>
          <a:prstGeom prst="rect">
            <a:avLst/>
          </a:prstGeom>
          <a:solidFill>
            <a:srgbClr val="14B8A6">
              <a:alpha val="3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83480" y="3364992"/>
            <a:ext cx="164592" cy="73152"/>
          </a:xfrm>
          <a:prstGeom prst="rect">
            <a:avLst/>
          </a:prstGeom>
          <a:solidFill>
            <a:srgbClr val="14B8A6">
              <a:alpha val="3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66360" y="3364992"/>
            <a:ext cx="164592" cy="73152"/>
          </a:xfrm>
          <a:prstGeom prst="rect">
            <a:avLst/>
          </a:prstGeom>
          <a:solidFill>
            <a:srgbClr val="14B8A6">
              <a:alpha val="2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9240" y="3364992"/>
            <a:ext cx="164592" cy="73152"/>
          </a:xfrm>
          <a:prstGeom prst="rect">
            <a:avLst/>
          </a:prstGeom>
          <a:solidFill>
            <a:srgbClr val="14B8A6">
              <a:alpha val="1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32120" y="3364992"/>
            <a:ext cx="164592" cy="73152"/>
          </a:xfrm>
          <a:prstGeom prst="rect">
            <a:avLst/>
          </a:prstGeom>
          <a:solidFill>
            <a:srgbClr val="14B8A6">
              <a:alpha val="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715000" y="3364992"/>
            <a:ext cx="164592" cy="73152"/>
          </a:xfrm>
          <a:prstGeom prst="rect">
            <a:avLst/>
          </a:prstGeom>
          <a:solidFill>
            <a:srgbClr val="14B8A6">
              <a:alpha val="6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83480" y="3456432"/>
            <a:ext cx="164592" cy="73152"/>
          </a:xfrm>
          <a:prstGeom prst="rect">
            <a:avLst/>
          </a:prstGeom>
          <a:solidFill>
            <a:srgbClr val="14B8A6">
              <a:alpha val="6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66360" y="3456432"/>
            <a:ext cx="164592" cy="73152"/>
          </a:xfrm>
          <a:prstGeom prst="rect">
            <a:avLst/>
          </a:prstGeom>
          <a:solidFill>
            <a:srgbClr val="14B8A6">
              <a:alpha val="52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9240" y="3456432"/>
            <a:ext cx="164592" cy="73152"/>
          </a:xfrm>
          <a:prstGeom prst="rect">
            <a:avLst/>
          </a:prstGeom>
          <a:solidFill>
            <a:srgbClr val="14B8A6">
              <a:alpha val="44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32120" y="3456432"/>
            <a:ext cx="164592" cy="73152"/>
          </a:xfrm>
          <a:prstGeom prst="rect">
            <a:avLst/>
          </a:prstGeom>
          <a:solidFill>
            <a:srgbClr val="14B8A6">
              <a:alpha val="36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15000" y="3456432"/>
            <a:ext cx="164592" cy="73152"/>
          </a:xfrm>
          <a:prstGeom prst="rect">
            <a:avLst/>
          </a:prstGeom>
          <a:solidFill>
            <a:srgbClr val="14B8A6">
              <a:alpha val="28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37033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co-occurrence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720840" y="3108960"/>
            <a:ext cx="178308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03720" y="3611880"/>
            <a:ext cx="1417320" cy="-2286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37033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4632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views: leaderboard, community map, co-occurrence heatmap, and temporal trends.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BENCHMARKING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Showing where Spark earns its keep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589520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175004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27264" y="111556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pipeline at three data scales: 1 GB, 5 GB, and 10 GB.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each stage separately: XML parsing, graph construction, and algorithm execution.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graph algorithms on NetworkX as a single-machine baseline. Document where it stops being practical.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SCALING (illustrative)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663440" y="1691640"/>
          <a:ext cx="4069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251960"/>
            <a:ext cx="82753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Spark scales close to linearly. NetworkX runtime grows faster and eventually fails on memory before reaching 10 GB.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layers, top to bottom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916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32588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32588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Gephi  ·  Streamlit  ·  Plotly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6916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82880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 ·  Cypher (Neo4j)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69164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317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233172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33172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 ·  Spark GraphFrames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691640" cy="457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283464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8346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(partitioned)  ·  Neo4j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16916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333756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33756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lxml  ·  PySpark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69164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48840" y="3840480"/>
            <a:ext cx="658368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384048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XML data dump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feeds the one above. The Parquet store sits in the middle so we can replay analytics without reparsing the raw XML.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weeks, five phases, one TODAY marker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9164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508760"/>
            <a:ext cx="0" cy="22860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0" cy="22860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1508760"/>
            <a:ext cx="0" cy="22860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508760"/>
            <a:ext cx="0" cy="22860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1508760"/>
            <a:ext cx="0" cy="22860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Acquire &amp; Parse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37360" y="1554480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Build the Graph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2011680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Run Algorithms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74820" y="2468880"/>
            <a:ext cx="2446020" cy="274320"/>
          </a:xfrm>
          <a:prstGeom prst="roundRect">
            <a:avLst>
              <a:gd name="adj" fmla="val 16667"/>
            </a:avLst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Visualize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66460" y="2926080"/>
            <a:ext cx="2446020" cy="274320"/>
          </a:xfrm>
          <a:prstGeom prst="roundRect">
            <a:avLst>
              <a:gd name="adj" fmla="val 16667"/>
            </a:avLst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Benchmark &amp;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3383280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1417320"/>
            <a:ext cx="0" cy="2468880"/>
          </a:xfrm>
          <a:prstGeom prst="line">
            <a:avLst/>
          </a:prstGeom>
          <a:noFill/>
          <a:ln w="25400">
            <a:solidFill>
              <a:srgbClr val="F4802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971800" y="1005840"/>
            <a:ext cx="822960" cy="274320"/>
          </a:xfrm>
          <a:prstGeom prst="rect">
            <a:avLst/>
          </a:prstGeom>
          <a:solidFill>
            <a:srgbClr val="F48024"/>
          </a:solidFill>
          <a:ln w="12700">
            <a:solidFill>
              <a:srgbClr val="F480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1005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4526280"/>
            <a:ext cx="1828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4489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4526280"/>
            <a:ext cx="1828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4489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4526280"/>
            <a:ext cx="18288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4489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  |  Big Data Specialization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640080" cy="36576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822960" y="1280160"/>
            <a:ext cx="457200" cy="54864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731520" cy="54864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48640" y="1828800"/>
            <a:ext cx="274320" cy="82296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88720" y="2377440"/>
            <a:ext cx="365760" cy="73152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51760"/>
            <a:ext cx="640080" cy="45720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182880" cy="100584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108960"/>
            <a:ext cx="274320" cy="82296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731520" cy="274320"/>
          </a:xfrm>
          <a:prstGeom prst="line">
            <a:avLst/>
          </a:prstGeom>
          <a:noFill/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85039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6152" y="12161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1764792"/>
            <a:ext cx="128016" cy="128016"/>
          </a:xfrm>
          <a:prstGeom prst="ellipse">
            <a:avLst/>
          </a:prstGeom>
          <a:solidFill>
            <a:srgbClr val="F48024"/>
          </a:solidFill>
          <a:ln w="12700">
            <a:solidFill>
              <a:srgbClr val="F480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0472" y="231343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25877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4712" y="3044952"/>
            <a:ext cx="128016" cy="128016"/>
          </a:xfrm>
          <a:prstGeom prst="ellipse">
            <a:avLst/>
          </a:prstGeom>
          <a:solidFill>
            <a:srgbClr val="F48024"/>
          </a:solidFill>
          <a:ln w="12700">
            <a:solidFill>
              <a:srgbClr val="F480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59359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99032" y="386791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18745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and feedback welcome.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2743200" y="27432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heading into Phase 2 next: edge construction and graph loading. Anything you would like us to focus on or measure differently is the right time to flag now.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Knowledge Graph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Dhondge  ·  Ayush Kumar  ·  Kumar Satyam   |   Guide: Dr. Mayur Pandya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Overflow Knowledge Graph Analytics</dc:title>
  <dc:subject>PptxGenJS Presentation</dc:subject>
  <dc:creator>Om Dhondge, Ayush Kumar, Kumar Satyam</dc:creator>
  <cp:lastModifiedBy>Om Dhondge, Ayush Kumar, Kumar Satyam</cp:lastModifiedBy>
  <cp:revision>1</cp:revision>
  <dcterms:created xsi:type="dcterms:W3CDTF">2026-04-27T17:22:36Z</dcterms:created>
  <dcterms:modified xsi:type="dcterms:W3CDTF">2026-04-27T17:22:36Z</dcterms:modified>
</cp:coreProperties>
</file>