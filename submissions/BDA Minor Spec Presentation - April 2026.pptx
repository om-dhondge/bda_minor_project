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92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2293"/>
            <a:ext cx="7556421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Stack Overflow Knowledge Graph Analytics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80190" y="280249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Distributed Graph Processing — Minor Project in Big Data Analytics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343275"/>
            <a:ext cx="4509016" cy="373142"/>
          </a:xfrm>
          <a:prstGeom prst="roundRect">
            <a:avLst>
              <a:gd name="adj" fmla="val 17872"/>
            </a:avLst>
          </a:prstGeom>
          <a:solidFill>
            <a:srgbClr val="CCEEFF"/>
          </a:solidFill>
          <a:ln/>
        </p:spPr>
      </p:sp>
      <p:sp>
        <p:nvSpPr>
          <p:cNvPr id="6" name="Text 3"/>
          <p:cNvSpPr/>
          <p:nvPr/>
        </p:nvSpPr>
        <p:spPr>
          <a:xfrm>
            <a:off x="6399252" y="3402806"/>
            <a:ext cx="427089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COMPUTER SCIENCE &amp; ENGINEERING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80190" y="3939659"/>
            <a:ext cx="3679031" cy="1174194"/>
          </a:xfrm>
          <a:prstGeom prst="roundRect">
            <a:avLst>
              <a:gd name="adj" fmla="val 709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86168" y="4145637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Om Dhondge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486168" y="4590336"/>
            <a:ext cx="32670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Reg. No. 230962282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157579" y="3939659"/>
            <a:ext cx="3679031" cy="1174194"/>
          </a:xfrm>
          <a:prstGeom prst="roundRect">
            <a:avLst>
              <a:gd name="adj" fmla="val 709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63557" y="4145637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Ayush Kumar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10363557" y="4590336"/>
            <a:ext cx="32670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Reg. No. 230962170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5312212"/>
            <a:ext cx="7556421" cy="1174194"/>
          </a:xfrm>
          <a:prstGeom prst="roundRect">
            <a:avLst>
              <a:gd name="adj" fmla="val 709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86168" y="551819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Kumar Satyam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86168" y="5962888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Reg. No. 230962226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280190" y="670964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Mayur Pandya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|  Date of Submission: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16th April 2026</a:t>
            </a:r>
            <a:endParaRPr lang="en-US" sz="15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38A40E-3C44-7DA6-EBA4-152B6A4BB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773" y="7793044"/>
            <a:ext cx="1936433" cy="4314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3225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304133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Overflow has been the go-to Q&amp;A platform for programmers since 2008. As of 2025, it hosts over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million registered accounts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more than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 million questions and answers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December 2025 data dump alone weighs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 GB across 364 XML files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899654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this data compelling is its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 answer links two users through a shared topic. Every tag ties a question to a technology. Every upvote signals trust. Together, these interactions form a sprawling, multi-layered graph which is a network of who knows what, who helps whom, and which technologies sit close together in practice.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5075515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378410"/>
            <a:ext cx="248007" cy="1983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8513" y="5323403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tools like Pandas cannot answer: "Which user bridges the Python and JavaScript communities?" for that, you need distributed graph algorithms at scale.</a:t>
            </a:r>
            <a:endParaRPr lang="en-US" sz="15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081084-A33C-6DDD-BA48-B160EFB03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8961" y="7742244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8451"/>
            <a:ext cx="5946100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This Project Builds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98655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take the Stack Overflow data dump and turn it into a usable knowledge graph — from raw XML to interactive visualisations.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27340"/>
            <a:ext cx="6521410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351948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Parse XML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92148" y="3964186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ingest raw Stack Overflow dump files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27340"/>
            <a:ext cx="6521410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13558" y="351948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 Graph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513558" y="3964186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Multi-relational graph: users, questions, tags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80084"/>
            <a:ext cx="6521410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2148" y="547223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Run Analytics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992148" y="5916930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PageRank, community detection via PySpark GraphFrames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480084"/>
            <a:ext cx="6521410" cy="7937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13558" y="547223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Visualise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513558" y="5916930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Neo4j, Gephi, and a Streamlit dashboard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93790" y="665607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end goal is practical: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expert lists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structural importance,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mapped technology communities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network visualisations showing how the developer knowledge landscape is actually organised.</a:t>
            </a:r>
            <a:endParaRPr lang="en-US" sz="15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4065CB-08BC-468F-7B9E-85496063A8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27024" y="7739719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550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Literature Review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2223611"/>
            <a:ext cx="6422231" cy="2474833"/>
          </a:xfrm>
          <a:prstGeom prst="roundRect">
            <a:avLst>
              <a:gd name="adj" fmla="val 443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223611"/>
            <a:ext cx="91440" cy="2474833"/>
          </a:xfrm>
          <a:prstGeom prst="roundRect">
            <a:avLst>
              <a:gd name="adj" fmla="val 91163"/>
            </a:avLst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444829"/>
            <a:ext cx="334529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Developer Network Analysis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83588" y="2889528"/>
            <a:ext cx="591121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Vasilescu et al. (2015) found measurable links between SO participation and GitHub activity. Later work identified "super-users" which are  knowledge brokers bridging separate communities. Key insight: Stack Overflow's built-in reputation score misses structural nuance.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223611"/>
            <a:ext cx="6422231" cy="2474833"/>
          </a:xfrm>
          <a:prstGeom prst="roundRect">
            <a:avLst>
              <a:gd name="adj" fmla="val 443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223611"/>
            <a:ext cx="91440" cy="2474833"/>
          </a:xfrm>
          <a:prstGeom prst="roundRect">
            <a:avLst>
              <a:gd name="adj" fmla="val 91163"/>
            </a:avLst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444829"/>
            <a:ext cx="441317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Graph Processing at Scale with Spark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704177" y="2889528"/>
            <a:ext cx="591121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GraphFrames (Dave et al., UC Berkeley, 2016) layers graph operations on Spark SQL DataFrames. Apostol et al. (2024) confirmed community detection algorithms scale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linearly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data size which allows for predictable scaling for tens-of-gigabytes datasets.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896803"/>
            <a:ext cx="6422231" cy="2157293"/>
          </a:xfrm>
          <a:prstGeom prst="roundRect">
            <a:avLst>
              <a:gd name="adj" fmla="val 508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896803"/>
            <a:ext cx="91440" cy="2157293"/>
          </a:xfrm>
          <a:prstGeom prst="roundRect">
            <a:avLst>
              <a:gd name="adj" fmla="val 91163"/>
            </a:avLst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5118021"/>
            <a:ext cx="508575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Knowledge Extraction from Stack Overflow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083588" y="5562719"/>
            <a:ext cx="59112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 et al. (2016) used tag co-occurrence to map technology relationships. Barua, Thomas &amp; Hassan (2014) applied topic modelling to track how developer conversations shift over time.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896803"/>
            <a:ext cx="6422231" cy="2157293"/>
          </a:xfrm>
          <a:prstGeom prst="roundRect">
            <a:avLst>
              <a:gd name="adj" fmla="val 508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896803"/>
            <a:ext cx="91440" cy="2157293"/>
          </a:xfrm>
          <a:prstGeom prst="roundRect">
            <a:avLst>
              <a:gd name="adj" fmla="val 91163"/>
            </a:avLst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5118021"/>
            <a:ext cx="281273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This Project Adds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704177" y="5562719"/>
            <a:ext cx="59112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existing studies use small data slices or single-machine tools like NetworkX (capped at ~100K nodes). Our project delivers the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end-to-end pipeline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gigabytes of XML to graph database, as one reproducible system.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870B71E-BC97-4FD4-1F27-7CF413F33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101" y="7720012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8792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85689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Stack Overflow dump contains a detailed record of developer knowledge exchange, but raw data is stored as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XML tables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Posts, Users, Tags, Votes, Comments — with no explicit graph structure. Relationships are implicit. Four technical problems must be solved: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012877"/>
            <a:ext cx="6422231" cy="1797129"/>
          </a:xfrm>
          <a:prstGeom prst="roundRect">
            <a:avLst>
              <a:gd name="adj" fmla="val 610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990017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007EBD"/>
          </a:solidFill>
          <a:ln/>
        </p:spPr>
      </p:sp>
      <p:sp>
        <p:nvSpPr>
          <p:cNvPr id="6" name="Shape 4"/>
          <p:cNvSpPr/>
          <p:nvPr/>
        </p:nvSpPr>
        <p:spPr>
          <a:xfrm>
            <a:off x="3707249" y="271522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007EBD"/>
          </a:solidFill>
          <a:ln/>
        </p:spPr>
      </p:sp>
      <p:sp>
        <p:nvSpPr>
          <p:cNvPr id="7" name="Text 5"/>
          <p:cNvSpPr/>
          <p:nvPr/>
        </p:nvSpPr>
        <p:spPr>
          <a:xfrm>
            <a:off x="3885843" y="286404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15008" y="350901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Scalable Parsing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15008" y="3953708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 GB of XML requires a distributed approach which Pandas DataFrames simply cannot handle it.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3012877"/>
            <a:ext cx="6422231" cy="1797129"/>
          </a:xfrm>
          <a:prstGeom prst="roundRect">
            <a:avLst>
              <a:gd name="adj" fmla="val 610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14379" y="2990017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007EB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27838" y="271522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06432" y="286404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35597" y="350901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Graph Construction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635597" y="3953708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 edges from relational data: user-answers-question, question-tagged-with-tag, user-votes-on-post.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306020"/>
            <a:ext cx="6422231" cy="2114669"/>
          </a:xfrm>
          <a:prstGeom prst="roundRect">
            <a:avLst>
              <a:gd name="adj" fmla="val 5189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5283160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007EBD"/>
          </a:solidFill>
          <a:ln/>
        </p:spPr>
      </p:sp>
      <p:sp>
        <p:nvSpPr>
          <p:cNvPr id="18" name="Shape 16"/>
          <p:cNvSpPr/>
          <p:nvPr/>
        </p:nvSpPr>
        <p:spPr>
          <a:xfrm>
            <a:off x="3707249" y="500836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007EBD"/>
          </a:solidFill>
          <a:ln/>
        </p:spPr>
      </p:sp>
      <p:sp>
        <p:nvSpPr>
          <p:cNvPr id="19" name="Text 17"/>
          <p:cNvSpPr/>
          <p:nvPr/>
        </p:nvSpPr>
        <p:spPr>
          <a:xfrm>
            <a:off x="3885843" y="515719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1015008" y="580215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Algorithms at Scale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1015008" y="6246852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PageRank and Label Propagation require repeated iterations over millions of nodes, hence, single-machine libraries become impractical.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5306020"/>
            <a:ext cx="6422231" cy="2114669"/>
          </a:xfrm>
          <a:prstGeom prst="roundRect">
            <a:avLst>
              <a:gd name="adj" fmla="val 5189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14379" y="5283160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007EB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27838" y="500836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007EBD"/>
          </a:solidFill>
          <a:ln/>
        </p:spPr>
      </p:sp>
      <p:sp>
        <p:nvSpPr>
          <p:cNvPr id="25" name="Text 23"/>
          <p:cNvSpPr/>
          <p:nvPr/>
        </p:nvSpPr>
        <p:spPr>
          <a:xfrm>
            <a:off x="10506432" y="515719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635597" y="580215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Usable Outputs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7635597" y="6246852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must go beyond raw CSVs with ranked expert lists, visual community maps, and an interactive dashboard.</a:t>
            </a:r>
            <a:endParaRPr lang="en-US" sz="15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4AA879-E347-21C7-0640-2EA65839B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101" y="7700466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96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901071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215396"/>
            <a:ext cx="64222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36029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ETL Pipeline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93790" y="2804993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PySpark-based parsing of XML dumps into partitioned Parquet files.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1901071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2215396"/>
            <a:ext cx="64222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236029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Knowledge Graph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414379" y="2804993"/>
            <a:ext cx="642223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Multi-relational graph: User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(expertise), Question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(topic), User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(reputation).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3802499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116824"/>
            <a:ext cx="64222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26172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Graph Analytics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93790" y="4706422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PageRank, Label Propagation, Connected Components, and Triangle Count via Spark GraphFrames.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3802499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4116824"/>
            <a:ext cx="64222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379" y="426172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Neo4j Integration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414379" y="4706422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Cypher queries with shortest paths, cross-domain user identification.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5688687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6003012"/>
            <a:ext cx="64222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14791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Visualisations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793790" y="659261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Gephi network layouts + Streamlit dashboard with leaderboards, heatmaps, and trend charts.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14379" y="5688687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14379" y="6003012"/>
            <a:ext cx="64222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5" name="Text 23"/>
          <p:cNvSpPr/>
          <p:nvPr/>
        </p:nvSpPr>
        <p:spPr>
          <a:xfrm>
            <a:off x="7414379" y="614791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Benchmarking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7414379" y="659261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tested at 1 GB, 5 GB, and 10 GB scales vs. NetworkX single-machine baseline.</a:t>
            </a:r>
            <a:endParaRPr lang="en-US" sz="15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B19E1AC-190A-BE00-0E90-F04681573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5106" y="7794427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7941"/>
            <a:ext cx="805517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Methodology: Five-Phase Pipeline 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16048"/>
            <a:ext cx="13042821" cy="34512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9781" y="2882988"/>
            <a:ext cx="1971578" cy="74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Acquisition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799781" y="3724728"/>
            <a:ext cx="1971578" cy="56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SO dump and select subset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059064" y="2681770"/>
            <a:ext cx="1971578" cy="37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Parsing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059064" y="3152847"/>
            <a:ext cx="1971578" cy="84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XML via lxml and PySpark to Parquet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18348" y="2882988"/>
            <a:ext cx="1971578" cy="74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Graph Construction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318348" y="3724728"/>
            <a:ext cx="1971578" cy="84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edge lists and load into graphs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577631" y="2028696"/>
            <a:ext cx="1971578" cy="74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Analytics &amp; Viz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577631" y="2870436"/>
            <a:ext cx="1971578" cy="112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graph analytics and create dashboards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849466" y="2882988"/>
            <a:ext cx="1971577" cy="74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Benchmarking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0849466" y="3724728"/>
            <a:ext cx="1971577" cy="84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results and produce report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50915" y="5390555"/>
            <a:ext cx="6565106" cy="2171105"/>
          </a:xfrm>
          <a:prstGeom prst="roundRect">
            <a:avLst>
              <a:gd name="adj" fmla="val 6582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49273" y="5588913"/>
            <a:ext cx="296429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Weeks 1–2: Data &amp; Graph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849273" y="6112907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SO dump, select 5–10 GB working subset (top 50 tags, last 2–3 years). Parse XML with lxml → PySpark → Parquet. Build edge lists: answers, tags, votes. Load into GraphFrames and Neo4j.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564874" y="5588913"/>
            <a:ext cx="366272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Weeks 2–4: Analytics &amp; Output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7564874" y="6112907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PageRank (20 iterations, damping 0.85), Label Propagation, Connected Components, Triangle Count. Export GEXF for Gephi. Build Streamlit dashboard with 4 views. Benchmark at 1/5/10 GB vs. NetworkX baseline.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F94A072-6A7C-6DB8-DFF1-FEBB17430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3967" y="7701148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2450" y="251798"/>
            <a:ext cx="3093363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2627" y="878557"/>
            <a:ext cx="427967" cy="4279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2450" y="1525098"/>
            <a:ext cx="156376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Source &amp; Storage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142450" y="2098113"/>
            <a:ext cx="4602718" cy="300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Overflow XML Dump (~5–10 GB working subset), Parquet (local/HDFS), Neo4j graph database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3698" y="839831"/>
            <a:ext cx="462343" cy="46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33698" y="1506089"/>
            <a:ext cx="1625203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Ingestion &amp; Processing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233698" y="2100154"/>
            <a:ext cx="4602718" cy="300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lxml for XML parsing, PySpark DataFrames for schema enforcement and distributed ETL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9289" y="2795168"/>
            <a:ext cx="427968" cy="427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42450" y="3460142"/>
            <a:ext cx="1739585" cy="346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Graph Analytics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2179289" y="4037711"/>
            <a:ext cx="4602718" cy="300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 GraphFrames for PageRank, LPA, Connected Components; SparkSQL + Cypher for querying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7039" y="2730647"/>
            <a:ext cx="441842" cy="4418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19280" y="3429819"/>
            <a:ext cx="1546622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Visualisation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6985260" y="3982310"/>
            <a:ext cx="4602718" cy="300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Gephi for network layouts, Streamlit + Plotly for interactive expert leaderboards and trend charts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3744" y="3858346"/>
            <a:ext cx="7839909" cy="49552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552548" y="6626799"/>
            <a:ext cx="1962047" cy="274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XML Dump</a:t>
            </a:r>
            <a:endParaRPr lang="en-US" sz="17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0480" y="5229133"/>
            <a:ext cx="464630" cy="46463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10883" y="4946641"/>
            <a:ext cx="2025788" cy="274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Parse &amp; ETL</a:t>
            </a:r>
            <a:endParaRPr lang="en-US" sz="17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9147" y="5512413"/>
            <a:ext cx="464630" cy="46463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669480" y="7098109"/>
            <a:ext cx="1962047" cy="548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Store Graph &amp; Parquet</a:t>
            </a:r>
            <a:endParaRPr lang="en-US" sz="17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7960" y="5795692"/>
            <a:ext cx="464631" cy="46463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712603" y="5299251"/>
            <a:ext cx="1962046" cy="548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Analyze &amp; Visualize</a:t>
            </a:r>
            <a:endParaRPr lang="en-US" sz="17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91150" y="6099879"/>
            <a:ext cx="464630" cy="4646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64EA36B-9EFE-6E59-8943-31DD9F398A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6810" y="7718317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7381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Progress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955488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100GB+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582341" y="385845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Raw Data Acquired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93790" y="4303157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 Overflow XML dump downloaded from the Stack Exchange data portal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223986" y="2955488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6.7GB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012656" y="385845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Parquet Output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5223986" y="4303157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question-answer pairs after preprocessing 100+ GB of raw XML data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54302" y="2955488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1GB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10442972" y="385845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Extracted Images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9654302" y="4303157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extracted from Stack Overflow posts; broken and corrupted links skipped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161478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B6FCB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464373"/>
            <a:ext cx="248007" cy="1983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38513" y="5409367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scripts systematically extract only answered question-answer pairs. Over 100 GB of raw XML has been successfully converted to a clean, analysis-ready Parquet dataset.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CDD534-558F-F784-3CD6-5C972D67F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8961" y="7740348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27234"/>
            <a:ext cx="6546533" cy="640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Takeaways &amp; 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794" y="1656517"/>
            <a:ext cx="6576774" cy="4576405"/>
          </a:xfrm>
          <a:prstGeom prst="roundRect">
            <a:avLst>
              <a:gd name="adj" fmla="val 3074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6057" y="1848803"/>
            <a:ext cx="259008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Are Building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6057" y="2361605"/>
            <a:ext cx="6186249" cy="268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distributed graph analytics pipeline on real-world 100 GB+ data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Multi-relational knowledge graph: users, questions, and technology tags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expert ranking beyond reputation scores using PageRank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community maps via Label Propagation and Gephi visualisation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61064" y="1848803"/>
            <a:ext cx="2587585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Immediate 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61064" y="2361605"/>
            <a:ext cx="6295549" cy="2372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edge lists from the 6.7 GB Parquet dataset using PySpark joins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graph into Spark GraphFrames and Neo4j for analytics and querying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PageRank, LPA, and Connected Components algorithms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Streamlit dashboard and run benchmarking at 1/5/10 GB scales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61064" y="4926806"/>
            <a:ext cx="2564249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Guide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61064" y="5439608"/>
            <a:ext cx="62955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Mayur Pandya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School of Computer Engineering, Submission: 18th April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4420" y="6665595"/>
            <a:ext cx="127745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that structural graph analysis reveals insights about developer expertise and technology ecosystems that flat metrics and reputation scores simply cannot capture.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1407" y="6449258"/>
            <a:ext cx="22860" cy="1052989"/>
          </a:xfrm>
          <a:prstGeom prst="rect">
            <a:avLst/>
          </a:prstGeom>
          <a:solidFill>
            <a:srgbClr val="007EBD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BEAD3A-D9E3-7221-34C5-365FCC078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818" y="7786182"/>
            <a:ext cx="1838582" cy="4096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1164</Words>
  <Application>Microsoft Office PowerPoint</Application>
  <PresentationFormat>Custom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Petrona Bold</vt:lpstr>
      <vt:lpstr>Inter</vt:lpstr>
      <vt:lpstr>Petrona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 Dhondge</dc:creator>
  <cp:lastModifiedBy>Om Dhondge</cp:lastModifiedBy>
  <cp:revision>2</cp:revision>
  <dcterms:created xsi:type="dcterms:W3CDTF">2026-04-16T14:26:09Z</dcterms:created>
  <dcterms:modified xsi:type="dcterms:W3CDTF">2026-04-16T14:40:32Z</dcterms:modified>
</cp:coreProperties>
</file>