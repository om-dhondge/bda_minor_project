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0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402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progress review, not a final report. Two pipelines run end to end; one data limitation needs your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beats. The last two are where we need your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of six objectives are delivered or partial. The two red items are deliberate; the partial one is the data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pipelines are runnable and tested. Every stage is idempotent and independently re-runnable.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chain. Note the exact row counts at each hop — every number here is measured, not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vertex count reconciles exactly: 2,532,514 questions plus 49,372 tags. We processed the full dump, not the 5-10 GB subset the synopsis proposed.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findings on one slide: one giant component, and a near-trivial LPA partition. The second motivated the threshold sweep.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112 tags missing at w&gt;=1 only ever appeared alone on a question, so they have no co-occurrence edge — an exact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terminology note out loud: tag authority, never expert ranking. PageRank here runs over technologies, not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delivers the synopsis thesis: structural importance diverges from raw volume — at the technology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tab 4 being a table, not a node-link diagram. Gephi export is the fix and it is queued.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ask of this review. Three options; we want your call. Option (a) costs a 104 GB decompression.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descopes are recorded with rationale in the design spec, not silently dropped.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cost real time and belong in the report. Lesson 2 is the one we are proudest of diagnosing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1 is blocked on your decision; the rest we can start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takeaways, then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299121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 REVIEW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4797584" y="952500"/>
            <a:ext cx="279170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AUGUST 2026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3213100"/>
            <a:ext cx="14716125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51"/>
              </a:lnSpc>
              <a:buNone/>
            </a:pPr>
            <a:r>
              <a:rPr lang="en-US" sz="7800" b="1" kern="0" spc="-234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Overflow Knowledge Graph Analytics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52500" y="5537200"/>
            <a:ext cx="1571625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kern="0" spc="-33" dirty="0">
                <a:solidFill>
                  <a:srgbClr val="B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distributed graph processing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7912100"/>
            <a:ext cx="16383000" cy="9525"/>
          </a:xfrm>
          <a:prstGeom prst="rect">
            <a:avLst/>
          </a:prstGeom>
          <a:solidFill>
            <a:srgbClr val="ECE9E4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8261350"/>
            <a:ext cx="55880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 SPECIALIZATION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8712200"/>
            <a:ext cx="55880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Analytics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04000" y="8261350"/>
            <a:ext cx="55880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04000" y="8712200"/>
            <a:ext cx="55880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Mayur Pandya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255501" y="8261350"/>
            <a:ext cx="55880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55501" y="8712200"/>
            <a:ext cx="55880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Dhondge · 230962282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255501" y="9175750"/>
            <a:ext cx="55880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· 230962170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1463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2381250"/>
            <a:ext cx="40272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45729" y="2362200"/>
            <a:ext cx="4193183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project stands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72625" y="21463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72625" y="2381250"/>
            <a:ext cx="40272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165854" y="2362200"/>
            <a:ext cx="392076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 not expect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52500" y="304165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3276600"/>
            <a:ext cx="40272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45729" y="3257550"/>
            <a:ext cx="536764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→ graph pipeline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72625" y="304165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72625" y="3276600"/>
            <a:ext cx="40272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165854" y="3257550"/>
            <a:ext cx="496906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and scope decisions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52500" y="39370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171950"/>
            <a:ext cx="40272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45729" y="4152900"/>
            <a:ext cx="484311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at scale, verified counts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572625" y="39370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572625" y="4171950"/>
            <a:ext cx="40272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65854" y="4152900"/>
            <a:ext cx="494767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work and your call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52500" y="483235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5067300"/>
            <a:ext cx="40272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45729" y="5048250"/>
            <a:ext cx="550614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Communities, authority, structure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STATUS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against the six synopsis objectives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613025"/>
            <a:ext cx="99060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09875"/>
            <a:ext cx="102031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ETL pipeline: XML → cleaned Parquet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0" y="2590800"/>
            <a:ext cx="59055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0" y="2787650"/>
            <a:ext cx="608266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3590925"/>
            <a:ext cx="99060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787775"/>
            <a:ext cx="102031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Multi-relational graph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430000" y="3371850"/>
            <a:ext cx="59055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0" y="3568700"/>
            <a:ext cx="6082665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— Question–Tag built, User edges blocked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4568825"/>
            <a:ext cx="99060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765675"/>
            <a:ext cx="102031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GraphFrames analytics: PageRank, LPA, CC, Triangles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430000" y="4546600"/>
            <a:ext cx="59055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0" y="4743450"/>
            <a:ext cx="608266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— all four, on the tag graph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5349875"/>
            <a:ext cx="99060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546725"/>
            <a:ext cx="102031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Neo4j interactive querying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1430000" y="5327650"/>
            <a:ext cx="59055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0" y="5524500"/>
            <a:ext cx="608266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Descoped, with rationale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6327775"/>
            <a:ext cx="99060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6524625"/>
            <a:ext cx="102031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Gephi + Streamlit visualization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1430000" y="6108700"/>
            <a:ext cx="59055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0" y="6305550"/>
            <a:ext cx="6082665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— Streamlit done, Gephi export pending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52500" y="8042275"/>
            <a:ext cx="99060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" y="7305675"/>
            <a:ext cx="99060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7502525"/>
            <a:ext cx="102031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Spark vs. NetworkX benchmark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1430000" y="8064500"/>
            <a:ext cx="59055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7283450"/>
            <a:ext cx="59055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0" y="7480300"/>
            <a:ext cx="608266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Deferred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52500" y="8489950"/>
            <a:ext cx="147161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17"/>
              </a:lnSpc>
              <a:buNone/>
            </a:pPr>
            <a:r>
              <a:rPr lang="en-US" sz="2550" dirty="0">
                <a:solidFill>
                  <a:srgbClr val="B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distributed pipeline runs end to end on 7.0 M records, producing a 2.58 M-node graph and a working dashboard. One data limitation removed the user-centric half of the graph.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IS BUILT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complete pipelines, both runnable and tested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90800"/>
            <a:ext cx="7858125" cy="19050"/>
          </a:xfrm>
          <a:prstGeom prst="rect">
            <a:avLst/>
          </a:prstGeom>
          <a:solidFill>
            <a:srgbClr val="D9806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76550"/>
            <a:ext cx="86439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Preprocessing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3543300"/>
            <a:ext cx="864393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dataset/ · 4-stage parallel XML pipeline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50608" y="4140200"/>
            <a:ext cx="7836218" cy="3342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6692" indent="-206692" algn="l">
              <a:lnSpc>
                <a:spcPct val="116250"/>
              </a:lnSpc>
              <a:buSzPct val="100000"/>
              <a:buChar char="•"/>
              <a:tabLst>
                <a:tab pos="206692" algn="l"/>
              </a:tabLst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Byte-range chunker over a 104 GB Posts.xml — never a DOM parse</a:t>
            </a:r>
            <a:endParaRPr lang="en-US" sz="2325" dirty="0"/>
          </a:p>
          <a:p>
            <a:pPr marL="206692" indent="-206692" algn="l">
              <a:lnSpc>
                <a:spcPct val="116250"/>
              </a:lnSpc>
              <a:buSzPct val="100000"/>
              <a:buChar char="•"/>
              <a:tabLst>
                <a:tab pos="206692" algn="l"/>
              </a:tabLst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parallel scans: questions to an in-memory index, then answers joined against it</a:t>
            </a:r>
            <a:endParaRPr lang="en-US" sz="2325" dirty="0"/>
          </a:p>
          <a:p>
            <a:pPr marL="206692" indent="-206692" algn="l">
              <a:lnSpc>
                <a:spcPct val="116250"/>
              </a:lnSpc>
              <a:buSzPct val="100000"/>
              <a:buChar char="•"/>
              <a:tabLst>
                <a:tab pos="206692" algn="l"/>
              </a:tabLst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split into prose, code snippets and image URLs</a:t>
            </a:r>
            <a:endParaRPr lang="en-US" sz="2325" dirty="0"/>
          </a:p>
          <a:p>
            <a:pPr marL="206692" indent="-206692" algn="l">
              <a:lnSpc>
                <a:spcPct val="116250"/>
              </a:lnSpc>
              <a:buSzPct val="100000"/>
              <a:buChar char="•"/>
              <a:tabLst>
                <a:tab pos="206692" algn="l"/>
              </a:tabLst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preprocessed_posts.parquet — 7.0 M rows, 36 tests passing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9477375" y="2590800"/>
            <a:ext cx="7858125" cy="19050"/>
          </a:xfrm>
          <a:prstGeom prst="rect">
            <a:avLst/>
          </a:prstGeom>
          <a:solidFill>
            <a:srgbClr val="D98060"/>
          </a:solidFill>
          <a:ln/>
        </p:spPr>
      </p:sp>
      <p:sp>
        <p:nvSpPr>
          <p:cNvPr id="9" name="Text 7"/>
          <p:cNvSpPr/>
          <p:nvPr/>
        </p:nvSpPr>
        <p:spPr>
          <a:xfrm>
            <a:off x="9477375" y="2876550"/>
            <a:ext cx="86439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Graph analytics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477375" y="3543300"/>
            <a:ext cx="864393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graph/ · PySpark 3.5.3 + GraphFrames 0.8.4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75482" y="4140200"/>
            <a:ext cx="7836218" cy="3513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6692" indent="-206692" algn="l">
              <a:lnSpc>
                <a:spcPct val="116250"/>
              </a:lnSpc>
              <a:buSzPct val="100000"/>
              <a:buChar char="•"/>
              <a:tabLst>
                <a:tab pos="206692" algn="l"/>
              </a:tabLst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stage0_smoke.py — environment and algorithm-semantics proof</a:t>
            </a:r>
            <a:endParaRPr lang="en-US" sz="2325" dirty="0"/>
          </a:p>
          <a:p>
            <a:pPr marL="206692" indent="-206692" algn="l">
              <a:lnSpc>
                <a:spcPct val="116250"/>
              </a:lnSpc>
              <a:buSzPct val="100000"/>
              <a:buChar char="•"/>
              <a:tabLst>
                <a:tab pos="206692" algn="l"/>
              </a:tabLst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stage1_etl.py — node and edge extraction</a:t>
            </a:r>
            <a:endParaRPr lang="en-US" sz="2325" dirty="0"/>
          </a:p>
          <a:p>
            <a:pPr marL="206692" indent="-206692" algn="l">
              <a:lnSpc>
                <a:spcPct val="116250"/>
              </a:lnSpc>
              <a:buSzPct val="100000"/>
              <a:buChar char="•"/>
              <a:tabLst>
                <a:tab pos="206692" algn="l"/>
              </a:tabLst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stage2_projection.py — tag co-occurrence projection</a:t>
            </a:r>
            <a:endParaRPr lang="en-US" sz="2325" dirty="0"/>
          </a:p>
          <a:p>
            <a:pPr marL="206692" indent="-206692" algn="l">
              <a:lnSpc>
                <a:spcPct val="116250"/>
              </a:lnSpc>
              <a:buSzPct val="100000"/>
              <a:buChar char="•"/>
              <a:tabLst>
                <a:tab pos="206692" algn="l"/>
              </a:tabLst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stage3_algorithms.py — LPA, Connected Components, Triangle Count, PageRank</a:t>
            </a:r>
            <a:endParaRPr lang="en-US" sz="2325" dirty="0"/>
          </a:p>
          <a:p>
            <a:pPr marL="206692" indent="-206692" algn="l">
              <a:lnSpc>
                <a:spcPct val="116250"/>
              </a:lnSpc>
              <a:buSzPct val="100000"/>
              <a:buChar char="•"/>
              <a:tabLst>
                <a:tab pos="206692" algn="l"/>
              </a:tabLst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dashboard/app.py — Streamlit, 4 tabs, 25 tests passing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952500" y="9105900"/>
            <a:ext cx="18021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stage is independently re-runnable and idempotent.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ARCHITECTURE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pipeline, stage by stage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213100"/>
            <a:ext cx="11049000" cy="9525"/>
          </a:xfrm>
          <a:prstGeom prst="rect">
            <a:avLst/>
          </a:prstGeom>
          <a:solidFill>
            <a:srgbClr val="1A191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676525"/>
            <a:ext cx="371918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Posts.xml — seekable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1092061" y="2708275"/>
            <a:ext cx="985639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 GB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" y="3314700"/>
            <a:ext cx="1138047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chunker → questions → answers + HTML split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4406900"/>
            <a:ext cx="11049000" cy="9525"/>
          </a:xfrm>
          <a:prstGeom prst="rect">
            <a:avLst/>
          </a:prstGeom>
          <a:solidFill>
            <a:srgbClr val="1A1917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870325"/>
            <a:ext cx="4834821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preprocessed_posts.parquet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879609" y="3902075"/>
            <a:ext cx="233408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6,997,182 rows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" y="4508500"/>
            <a:ext cx="1138047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Stage 1 — ETL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5600700"/>
            <a:ext cx="11049000" cy="9525"/>
          </a:xfrm>
          <a:prstGeom prst="rect">
            <a:avLst/>
          </a:prstGeom>
          <a:solidFill>
            <a:srgbClr val="1A1917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064125"/>
            <a:ext cx="8739872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nodes_question · nodes_tag · edges_question_tag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0637441" y="5095875"/>
            <a:ext cx="150046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bipartite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2500" y="5702300"/>
            <a:ext cx="1138047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Stage 2 — one-mode projection, src &lt; dst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6794500"/>
            <a:ext cx="11049000" cy="9525"/>
          </a:xfrm>
          <a:prstGeom prst="rect">
            <a:avLst/>
          </a:prstGeom>
          <a:solidFill>
            <a:srgbClr val="1A1917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6257925"/>
            <a:ext cx="241746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edges_tag_tag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273382" y="6289675"/>
            <a:ext cx="3000931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1,469,065 weighted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2500" y="6896100"/>
            <a:ext cx="1138047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Stage 3 — LPA · CC · TriangleCount · PageRank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7988300"/>
            <a:ext cx="11049000" cy="9525"/>
          </a:xfrm>
          <a:prstGeom prst="rect">
            <a:avLst/>
          </a:prstGeom>
          <a:solidFill>
            <a:srgbClr val="1A1917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7451725"/>
            <a:ext cx="1004159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tag_metrics · tag_metrics_sweep · bipartite_components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10940554" y="7483475"/>
            <a:ext cx="1137146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2500" y="8089900"/>
            <a:ext cx="1138047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Stage 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182100"/>
            <a:ext cx="11049000" cy="9525"/>
          </a:xfrm>
          <a:prstGeom prst="rect">
            <a:avLst/>
          </a:prstGeom>
          <a:solidFill>
            <a:srgbClr val="1A1917">
              <a:alpha val="1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8645525"/>
            <a:ext cx="353320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dashboard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9879609" y="8677275"/>
            <a:ext cx="233408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localhost:8501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2763500" y="2552700"/>
            <a:ext cx="9525" cy="6972300"/>
          </a:xfrm>
          <a:prstGeom prst="rect">
            <a:avLst/>
          </a:prstGeom>
          <a:solidFill>
            <a:srgbClr val="1A1917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3303251" y="2552700"/>
            <a:ext cx="4435475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PIPELINE RUNTIME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303251" y="2984500"/>
            <a:ext cx="443547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6000" b="1" kern="0" spc="-18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min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13303251" y="4165600"/>
            <a:ext cx="443547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4 min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3303251" y="4629150"/>
            <a:ext cx="443547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2 min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3303251" y="5092700"/>
            <a:ext cx="443547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5 min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3303251" y="5842000"/>
            <a:ext cx="4032250" cy="9525"/>
          </a:xfrm>
          <a:prstGeom prst="rect">
            <a:avLst/>
          </a:prstGeom>
          <a:solidFill>
            <a:srgbClr val="1A1917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303251" y="6115050"/>
            <a:ext cx="4435475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303251" y="6546850"/>
            <a:ext cx="4153218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laptop — 15.7 GB RAM, 12 cores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SCALE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data: verified, not estimated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908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70200"/>
            <a:ext cx="396922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records processed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36495" y="2806700"/>
            <a:ext cx="1846769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6,997,182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72625" y="25908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572625" y="2870200"/>
            <a:ext cx="300114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Question–tag edges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656620" y="2806700"/>
            <a:ext cx="1846769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7,775,852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2500" y="34671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46500"/>
            <a:ext cx="262756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questions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036495" y="3683000"/>
            <a:ext cx="1846769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2,532,514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72625" y="34671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572625" y="3746500"/>
            <a:ext cx="441724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Tag–tag co-occurrence edges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656620" y="3683000"/>
            <a:ext cx="1846769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1,469,065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2500" y="52197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43434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4622800"/>
            <a:ext cx="182603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tags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596089" y="4559300"/>
            <a:ext cx="1195487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49,372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572625" y="52197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572625" y="4343400"/>
            <a:ext cx="7762875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572625" y="4622800"/>
            <a:ext cx="34289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Bipartite graph vertices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656620" y="4559300"/>
            <a:ext cx="1846769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2,581,886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2500" y="7954764"/>
            <a:ext cx="16383000" cy="9525"/>
          </a:xfrm>
          <a:prstGeom prst="rect">
            <a:avLst/>
          </a:prstGeom>
          <a:solidFill>
            <a:srgbClr val="ECE9E4">
              <a:alpha val="1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8284964"/>
            <a:ext cx="7995761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B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weight ≥ 5 threshold on co-occurrence — an edge must appear on at least 5 shared questions — keeps 25,597 tags and cuts incidental noise.</a:t>
            </a:r>
            <a:endParaRPr lang="en-US" sz="2325" dirty="0"/>
          </a:p>
        </p:txBody>
      </p:sp>
      <p:sp>
        <p:nvSpPr>
          <p:cNvPr id="26" name="Text 24"/>
          <p:cNvSpPr/>
          <p:nvPr/>
        </p:nvSpPr>
        <p:spPr>
          <a:xfrm>
            <a:off x="9572625" y="8284964"/>
            <a:ext cx="7995761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B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synopsis proposed a 5–10 GB subset over 50 tags. We processed the full dump across all 49,372 tags. Actual scale exceeded the proposal.</a:t>
            </a:r>
            <a:endParaRPr lang="en-US" sz="23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RESULT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of the tag graph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90800"/>
            <a:ext cx="7810500" cy="19050"/>
          </a:xfrm>
          <a:prstGeom prst="rect">
            <a:avLst/>
          </a:prstGeom>
          <a:solidFill>
            <a:srgbClr val="D9806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95600"/>
            <a:ext cx="85915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 COMPONENTS — 2.58 M VERTICES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511550"/>
            <a:ext cx="85915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7200" b="1" kern="0" spc="-21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52500" y="4673600"/>
            <a:ext cx="804481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 components. The giant component holds 2,581,620 vertices; the remaining 106 are size-2 isolates — a lone tag on a lone question.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952500" y="6161286"/>
            <a:ext cx="804481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B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Overflow's technology space is one knowledge network, not a set of islands. There is no meaningfully disconnected niche.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525000" y="2590800"/>
            <a:ext cx="7810500" cy="19050"/>
          </a:xfrm>
          <a:prstGeom prst="rect">
            <a:avLst/>
          </a:prstGeom>
          <a:solidFill>
            <a:srgbClr val="D98060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0" y="2895600"/>
            <a:ext cx="85915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PROPAGATION — TAG GRAPH, W ≥ 5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3511550"/>
            <a:ext cx="85915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7200" b="1" kern="0" spc="-21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9525000" y="4673600"/>
            <a:ext cx="804481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over 25,597 tags — but one community absorbs 25,348 of them, 99% of the graph.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9525000" y="5747941"/>
            <a:ext cx="804481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B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this density LPA gives a near-trivial partition. That is a genuine finding about the graph, not a failure of the algorithm — and it motivated the threshold sweep.</a:t>
            </a:r>
            <a:endParaRPr lang="en-US" sz="23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RESULT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 suite re-run at three thresholds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098800"/>
            <a:ext cx="3810000" cy="9525"/>
          </a:xfrm>
          <a:prstGeom prst="rect">
            <a:avLst/>
          </a:prstGeom>
          <a:solidFill>
            <a:srgbClr val="1A1917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590800"/>
            <a:ext cx="3924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5143500" y="3098800"/>
            <a:ext cx="3810000" cy="9525"/>
          </a:xfrm>
          <a:prstGeom prst="rect">
            <a:avLst/>
          </a:prstGeom>
          <a:solidFill>
            <a:srgbClr val="1A1917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2590800"/>
            <a:ext cx="3924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15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 RETAINED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334500" y="3098800"/>
            <a:ext cx="3810000" cy="9525"/>
          </a:xfrm>
          <a:prstGeom prst="rect">
            <a:avLst/>
          </a:prstGeom>
          <a:solidFill>
            <a:srgbClr val="1A1917">
              <a:alpha val="3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220200" y="2590800"/>
            <a:ext cx="3924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15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COMMUNITIES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3525500" y="3098800"/>
            <a:ext cx="3810000" cy="9525"/>
          </a:xfrm>
          <a:prstGeom prst="rect">
            <a:avLst/>
          </a:prstGeom>
          <a:solidFill>
            <a:srgbClr val="1A1917">
              <a:alpha val="3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411200" y="2590800"/>
            <a:ext cx="3924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15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LARGEST COMMUNITY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52500" y="40386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3337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≥ 1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5143500" y="40386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3337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49,260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0" y="40386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220200" y="33337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25500" y="40386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411200" y="33337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49,189 · 99.9%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52500" y="49784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42735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≥ 5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5143500" y="49784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42735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25,597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334500" y="49784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220200" y="42735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3525500" y="49784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411200" y="42735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25,348 · 99.0%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952500" y="59182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52133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≥ 20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5143500" y="59182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52133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11,768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9334500" y="59182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220200" y="52133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3525500" y="5918200"/>
            <a:ext cx="3810000" cy="9525"/>
          </a:xfrm>
          <a:prstGeom prst="rect">
            <a:avLst/>
          </a:prstGeom>
          <a:solidFill>
            <a:srgbClr val="1A1917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411200" y="5213350"/>
            <a:ext cx="3924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10,874 · 92.4%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952500" y="6343650"/>
            <a:ext cx="804481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≥ 1 keeps 49,260 of 49,372 tags. The 112 missing tags only ever appeared alone on a question, so they have no co-occurrence edge at all.</a:t>
            </a:r>
            <a:endParaRPr lang="en-US" sz="2325" dirty="0"/>
          </a:p>
        </p:txBody>
      </p:sp>
      <p:sp>
        <p:nvSpPr>
          <p:cNvPr id="37" name="Text 35"/>
          <p:cNvSpPr/>
          <p:nvPr/>
        </p:nvSpPr>
        <p:spPr>
          <a:xfrm>
            <a:off x="9525000" y="6343650"/>
            <a:ext cx="804481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structure only starts to resolve as the threshold rises. Even at w ≥ 20 the core stays fused, which argues for Louvain rather than LPA as a next step.</a:t>
            </a:r>
            <a:endParaRPr lang="en-US" sz="23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RESULT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authority by PageRank, weight ≥ 5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041650"/>
            <a:ext cx="9525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552700"/>
            <a:ext cx="10287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2286000" y="3041650"/>
            <a:ext cx="60960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52700"/>
            <a:ext cx="627888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8763000" y="3041650"/>
            <a:ext cx="24765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0" y="2552700"/>
            <a:ext cx="25527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620500" y="3041650"/>
            <a:ext cx="24765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544300" y="2552700"/>
            <a:ext cx="25527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TRIANGLES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4478000" y="3041650"/>
            <a:ext cx="28575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392275" y="2552700"/>
            <a:ext cx="29432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52500" y="368935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3143250"/>
            <a:ext cx="1028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2286000" y="3689350"/>
            <a:ext cx="609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3143250"/>
            <a:ext cx="627888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763000" y="36893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31432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358.4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1620500" y="36893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544300" y="31432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111,337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4478000" y="36893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392275" y="3143250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213,850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52500" y="433705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3790950"/>
            <a:ext cx="1028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2286000" y="4337050"/>
            <a:ext cx="609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3790950"/>
            <a:ext cx="627888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8763000" y="43370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0" y="37909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340.6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1620500" y="43370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544300" y="37909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104,232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4478000" y="43370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4392275" y="3790950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229,355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952500" y="498475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4438650"/>
            <a:ext cx="1028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2286000" y="4984750"/>
            <a:ext cx="609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0" y="4438650"/>
            <a:ext cx="627888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8763000" y="49847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0" y="44386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323.8</a:t>
            </a:r>
            <a:endParaRPr lang="en-US" sz="2250" dirty="0"/>
          </a:p>
        </p:txBody>
      </p:sp>
      <p:sp>
        <p:nvSpPr>
          <p:cNvPr id="40" name="Shape 38"/>
          <p:cNvSpPr/>
          <p:nvPr/>
        </p:nvSpPr>
        <p:spPr>
          <a:xfrm>
            <a:off x="11620500" y="49847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1544300" y="44386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103,478</a:t>
            </a:r>
            <a:endParaRPr lang="en-US" sz="2250" dirty="0"/>
          </a:p>
        </p:txBody>
      </p:sp>
      <p:sp>
        <p:nvSpPr>
          <p:cNvPr id="42" name="Shape 40"/>
          <p:cNvSpPr/>
          <p:nvPr/>
        </p:nvSpPr>
        <p:spPr>
          <a:xfrm>
            <a:off x="14478000" y="49847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4392275" y="4438650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215,512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952500" y="563245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" y="5086350"/>
            <a:ext cx="1028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2286000" y="5632450"/>
            <a:ext cx="609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286000" y="5086350"/>
            <a:ext cx="627888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8763000" y="56324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0" y="50863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295.0</a:t>
            </a:r>
            <a:endParaRPr lang="en-US" sz="2250" dirty="0"/>
          </a:p>
        </p:txBody>
      </p:sp>
      <p:sp>
        <p:nvSpPr>
          <p:cNvPr id="50" name="Shape 48"/>
          <p:cNvSpPr/>
          <p:nvPr/>
        </p:nvSpPr>
        <p:spPr>
          <a:xfrm>
            <a:off x="11620500" y="56324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1544300" y="50863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101,897</a:t>
            </a:r>
            <a:endParaRPr lang="en-US" sz="2250" dirty="0"/>
          </a:p>
        </p:txBody>
      </p:sp>
      <p:sp>
        <p:nvSpPr>
          <p:cNvPr id="52" name="Shape 50"/>
          <p:cNvSpPr/>
          <p:nvPr/>
        </p:nvSpPr>
        <p:spPr>
          <a:xfrm>
            <a:off x="14478000" y="56324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4392275" y="5086350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222,067</a:t>
            </a:r>
            <a:endParaRPr lang="en-US" sz="2250" dirty="0"/>
          </a:p>
        </p:txBody>
      </p:sp>
      <p:sp>
        <p:nvSpPr>
          <p:cNvPr id="54" name="Shape 52"/>
          <p:cNvSpPr/>
          <p:nvPr/>
        </p:nvSpPr>
        <p:spPr>
          <a:xfrm>
            <a:off x="952500" y="628015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952500" y="5734050"/>
            <a:ext cx="1028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56" name="Shape 54"/>
          <p:cNvSpPr/>
          <p:nvPr/>
        </p:nvSpPr>
        <p:spPr>
          <a:xfrm>
            <a:off x="2286000" y="6280150"/>
            <a:ext cx="609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286000" y="5734050"/>
            <a:ext cx="627888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</a:t>
            </a:r>
            <a:endParaRPr lang="en-US" sz="2400" dirty="0"/>
          </a:p>
        </p:txBody>
      </p:sp>
      <p:sp>
        <p:nvSpPr>
          <p:cNvPr id="58" name="Shape 56"/>
          <p:cNvSpPr/>
          <p:nvPr/>
        </p:nvSpPr>
        <p:spPr>
          <a:xfrm>
            <a:off x="8763000" y="62801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686800" y="57340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264.4</a:t>
            </a:r>
            <a:endParaRPr lang="en-US" sz="2250" dirty="0"/>
          </a:p>
        </p:txBody>
      </p:sp>
      <p:sp>
        <p:nvSpPr>
          <p:cNvPr id="60" name="Shape 58"/>
          <p:cNvSpPr/>
          <p:nvPr/>
        </p:nvSpPr>
        <p:spPr>
          <a:xfrm>
            <a:off x="11620500" y="62801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1544300" y="57340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78,080</a:t>
            </a:r>
            <a:endParaRPr lang="en-US" sz="2250" dirty="0"/>
          </a:p>
        </p:txBody>
      </p:sp>
      <p:sp>
        <p:nvSpPr>
          <p:cNvPr id="62" name="Shape 60"/>
          <p:cNvSpPr/>
          <p:nvPr/>
        </p:nvSpPr>
        <p:spPr>
          <a:xfrm>
            <a:off x="14478000" y="62801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4392275" y="5734050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136,833</a:t>
            </a:r>
            <a:endParaRPr lang="en-US" sz="2250" dirty="0"/>
          </a:p>
        </p:txBody>
      </p:sp>
      <p:sp>
        <p:nvSpPr>
          <p:cNvPr id="64" name="Shape 62"/>
          <p:cNvSpPr/>
          <p:nvPr/>
        </p:nvSpPr>
        <p:spPr>
          <a:xfrm>
            <a:off x="952500" y="692785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952500" y="6381750"/>
            <a:ext cx="1028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50" dirty="0"/>
          </a:p>
        </p:txBody>
      </p:sp>
      <p:sp>
        <p:nvSpPr>
          <p:cNvPr id="66" name="Shape 64"/>
          <p:cNvSpPr/>
          <p:nvPr/>
        </p:nvSpPr>
        <p:spPr>
          <a:xfrm>
            <a:off x="2286000" y="6927850"/>
            <a:ext cx="609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2286000" y="6381750"/>
            <a:ext cx="627888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</a:t>
            </a:r>
            <a:endParaRPr lang="en-US" sz="2400" dirty="0"/>
          </a:p>
        </p:txBody>
      </p:sp>
      <p:sp>
        <p:nvSpPr>
          <p:cNvPr id="68" name="Shape 66"/>
          <p:cNvSpPr/>
          <p:nvPr/>
        </p:nvSpPr>
        <p:spPr>
          <a:xfrm>
            <a:off x="8763000" y="69278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686800" y="63817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215.0</a:t>
            </a:r>
            <a:endParaRPr lang="en-US" sz="2250" dirty="0"/>
          </a:p>
        </p:txBody>
      </p:sp>
      <p:sp>
        <p:nvSpPr>
          <p:cNvPr id="70" name="Shape 68"/>
          <p:cNvSpPr/>
          <p:nvPr/>
        </p:nvSpPr>
        <p:spPr>
          <a:xfrm>
            <a:off x="11620500" y="69278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1544300" y="63817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74,857</a:t>
            </a:r>
            <a:endParaRPr lang="en-US" sz="2250" dirty="0"/>
          </a:p>
        </p:txBody>
      </p:sp>
      <p:sp>
        <p:nvSpPr>
          <p:cNvPr id="72" name="Shape 70"/>
          <p:cNvSpPr/>
          <p:nvPr/>
        </p:nvSpPr>
        <p:spPr>
          <a:xfrm>
            <a:off x="14478000" y="69278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4392275" y="6381750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132,053</a:t>
            </a:r>
            <a:endParaRPr lang="en-US" sz="2250" dirty="0"/>
          </a:p>
        </p:txBody>
      </p:sp>
      <p:sp>
        <p:nvSpPr>
          <p:cNvPr id="74" name="Shape 72"/>
          <p:cNvSpPr/>
          <p:nvPr/>
        </p:nvSpPr>
        <p:spPr>
          <a:xfrm>
            <a:off x="952500" y="757555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952500" y="7029450"/>
            <a:ext cx="1028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50" dirty="0"/>
          </a:p>
        </p:txBody>
      </p:sp>
      <p:sp>
        <p:nvSpPr>
          <p:cNvPr id="76" name="Shape 74"/>
          <p:cNvSpPr/>
          <p:nvPr/>
        </p:nvSpPr>
        <p:spPr>
          <a:xfrm>
            <a:off x="2286000" y="7575550"/>
            <a:ext cx="609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2286000" y="7029450"/>
            <a:ext cx="627888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</a:t>
            </a:r>
            <a:endParaRPr lang="en-US" sz="2400" dirty="0"/>
          </a:p>
        </p:txBody>
      </p:sp>
      <p:sp>
        <p:nvSpPr>
          <p:cNvPr id="78" name="Shape 76"/>
          <p:cNvSpPr/>
          <p:nvPr/>
        </p:nvSpPr>
        <p:spPr>
          <a:xfrm>
            <a:off x="8763000" y="75755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8686800" y="70294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177.3</a:t>
            </a:r>
            <a:endParaRPr lang="en-US" sz="2250" dirty="0"/>
          </a:p>
        </p:txBody>
      </p:sp>
      <p:sp>
        <p:nvSpPr>
          <p:cNvPr id="80" name="Shape 78"/>
          <p:cNvSpPr/>
          <p:nvPr/>
        </p:nvSpPr>
        <p:spPr>
          <a:xfrm>
            <a:off x="11620500" y="75755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11544300" y="70294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75,308</a:t>
            </a:r>
            <a:endParaRPr lang="en-US" sz="2250" dirty="0"/>
          </a:p>
        </p:txBody>
      </p:sp>
      <p:sp>
        <p:nvSpPr>
          <p:cNvPr id="82" name="Shape 80"/>
          <p:cNvSpPr/>
          <p:nvPr/>
        </p:nvSpPr>
        <p:spPr>
          <a:xfrm>
            <a:off x="14478000" y="75755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14392275" y="7029450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107,364</a:t>
            </a:r>
            <a:endParaRPr lang="en-US" sz="2250" dirty="0"/>
          </a:p>
        </p:txBody>
      </p:sp>
      <p:sp>
        <p:nvSpPr>
          <p:cNvPr id="84" name="Shape 82"/>
          <p:cNvSpPr/>
          <p:nvPr/>
        </p:nvSpPr>
        <p:spPr>
          <a:xfrm>
            <a:off x="952500" y="822325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952500" y="7677150"/>
            <a:ext cx="1028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50" dirty="0"/>
          </a:p>
        </p:txBody>
      </p:sp>
      <p:sp>
        <p:nvSpPr>
          <p:cNvPr id="86" name="Shape 84"/>
          <p:cNvSpPr/>
          <p:nvPr/>
        </p:nvSpPr>
        <p:spPr>
          <a:xfrm>
            <a:off x="2286000" y="8223250"/>
            <a:ext cx="609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2286000" y="7677150"/>
            <a:ext cx="627888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</a:t>
            </a:r>
            <a:endParaRPr lang="en-US" sz="2400" dirty="0"/>
          </a:p>
        </p:txBody>
      </p:sp>
      <p:sp>
        <p:nvSpPr>
          <p:cNvPr id="88" name="Shape 86"/>
          <p:cNvSpPr/>
          <p:nvPr/>
        </p:nvSpPr>
        <p:spPr>
          <a:xfrm>
            <a:off x="8763000" y="82232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8686800" y="76771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155.8</a:t>
            </a:r>
            <a:endParaRPr lang="en-US" sz="2250" dirty="0"/>
          </a:p>
        </p:txBody>
      </p:sp>
      <p:sp>
        <p:nvSpPr>
          <p:cNvPr id="90" name="Shape 88"/>
          <p:cNvSpPr/>
          <p:nvPr/>
        </p:nvSpPr>
        <p:spPr>
          <a:xfrm>
            <a:off x="11620500" y="8223250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11544300" y="7677150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53,706</a:t>
            </a:r>
            <a:endParaRPr lang="en-US" sz="2250" dirty="0"/>
          </a:p>
        </p:txBody>
      </p:sp>
      <p:sp>
        <p:nvSpPr>
          <p:cNvPr id="92" name="Shape 90"/>
          <p:cNvSpPr/>
          <p:nvPr/>
        </p:nvSpPr>
        <p:spPr>
          <a:xfrm>
            <a:off x="14478000" y="82232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14392275" y="7677150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76,911</a:t>
            </a:r>
            <a:endParaRPr lang="en-US" sz="2250" dirty="0"/>
          </a:p>
        </p:txBody>
      </p:sp>
      <p:sp>
        <p:nvSpPr>
          <p:cNvPr id="94" name="Text 92"/>
          <p:cNvSpPr/>
          <p:nvPr/>
        </p:nvSpPr>
        <p:spPr>
          <a:xfrm>
            <a:off x="952500" y="861060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B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Terminology: we label this tag authority, or technology centrality — never expert ranking. PageRank here runs over technologies, not users.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RESULT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tags punch above their volume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552700"/>
            <a:ext cx="1373505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17"/>
              </a:lnSpc>
              <a:buNone/>
            </a:pPr>
            <a:r>
              <a:rPr lang="en-US" sz="2550" dirty="0">
                <a:solidFill>
                  <a:srgbClr val="B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interesting result is not the top of the list — it is where authority rank far exceeds volume rank. These are low-traffic tags sitting on structural bridges.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329311"/>
            <a:ext cx="51435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840361"/>
            <a:ext cx="529780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477000" y="4329311"/>
            <a:ext cx="22860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3840361"/>
            <a:ext cx="23622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144000" y="4329311"/>
            <a:ext cx="28575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058275" y="3840361"/>
            <a:ext cx="29432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 RANK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382500" y="4329311"/>
            <a:ext cx="24765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306300" y="3840361"/>
            <a:ext cx="25527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RANK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5240000" y="4329311"/>
            <a:ext cx="20955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163800" y="3840361"/>
            <a:ext cx="21717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GAIN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52500" y="4996061"/>
            <a:ext cx="5143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440436"/>
            <a:ext cx="529780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openstack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77000" y="4996061"/>
            <a:ext cx="228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440436"/>
            <a:ext cx="2362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0" y="4996061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058275" y="4440436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2,232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2382500" y="4996061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306300" y="4440436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5,901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5240000" y="4996061"/>
            <a:ext cx="2095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5163800" y="4440436"/>
            <a:ext cx="2171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+3,669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52500" y="5662811"/>
            <a:ext cx="5143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5107186"/>
            <a:ext cx="529780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theorem-proving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477000" y="5662811"/>
            <a:ext cx="228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5107186"/>
            <a:ext cx="2362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144000" y="5662811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058275" y="5107186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2,355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2382500" y="5662811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2306300" y="5107186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5,859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5240000" y="5662811"/>
            <a:ext cx="2095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5163800" y="5107186"/>
            <a:ext cx="2171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+3,504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952500" y="6329561"/>
            <a:ext cx="5143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52500" y="5773936"/>
            <a:ext cx="529780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microsoft-dynamics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6477000" y="6329561"/>
            <a:ext cx="228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5773936"/>
            <a:ext cx="2362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9144000" y="6329561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058275" y="5773936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2,713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12382500" y="6329561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2306300" y="5773936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5,748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5240000" y="6329561"/>
            <a:ext cx="2095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5163800" y="5773936"/>
            <a:ext cx="2171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+3,035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952500" y="6996311"/>
            <a:ext cx="5143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52500" y="6440686"/>
            <a:ext cx="529780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bittorrent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6477000" y="6996311"/>
            <a:ext cx="228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6440686"/>
            <a:ext cx="2362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</a:t>
            </a:r>
            <a:endParaRPr lang="en-US" sz="2250" dirty="0"/>
          </a:p>
        </p:txBody>
      </p:sp>
      <p:sp>
        <p:nvSpPr>
          <p:cNvPr id="49" name="Shape 47"/>
          <p:cNvSpPr/>
          <p:nvPr/>
        </p:nvSpPr>
        <p:spPr>
          <a:xfrm>
            <a:off x="9144000" y="6996311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058275" y="6440686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2,145</a:t>
            </a:r>
            <a:endParaRPr lang="en-US" sz="2250" dirty="0"/>
          </a:p>
        </p:txBody>
      </p:sp>
      <p:sp>
        <p:nvSpPr>
          <p:cNvPr id="51" name="Shape 49"/>
          <p:cNvSpPr/>
          <p:nvPr/>
        </p:nvSpPr>
        <p:spPr>
          <a:xfrm>
            <a:off x="12382500" y="6996311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2306300" y="6440686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4,824</a:t>
            </a:r>
            <a:endParaRPr lang="en-US" sz="2250" dirty="0"/>
          </a:p>
        </p:txBody>
      </p:sp>
      <p:sp>
        <p:nvSpPr>
          <p:cNvPr id="53" name="Shape 51"/>
          <p:cNvSpPr/>
          <p:nvPr/>
        </p:nvSpPr>
        <p:spPr>
          <a:xfrm>
            <a:off x="15240000" y="6996311"/>
            <a:ext cx="2095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5163800" y="6440686"/>
            <a:ext cx="2171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+2,679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952500" y="7663061"/>
            <a:ext cx="5143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52500" y="7107436"/>
            <a:ext cx="529780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olap</a:t>
            </a:r>
            <a:endParaRPr lang="en-US" sz="2400" dirty="0"/>
          </a:p>
        </p:txBody>
      </p:sp>
      <p:sp>
        <p:nvSpPr>
          <p:cNvPr id="57" name="Shape 55"/>
          <p:cNvSpPr/>
          <p:nvPr/>
        </p:nvSpPr>
        <p:spPr>
          <a:xfrm>
            <a:off x="6477000" y="7663061"/>
            <a:ext cx="228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0" y="7107436"/>
            <a:ext cx="2362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2250" dirty="0"/>
          </a:p>
        </p:txBody>
      </p:sp>
      <p:sp>
        <p:nvSpPr>
          <p:cNvPr id="59" name="Shape 57"/>
          <p:cNvSpPr/>
          <p:nvPr/>
        </p:nvSpPr>
        <p:spPr>
          <a:xfrm>
            <a:off x="9144000" y="7663061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058275" y="7107436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2,578</a:t>
            </a:r>
            <a:endParaRPr lang="en-US" sz="2250" dirty="0"/>
          </a:p>
        </p:txBody>
      </p:sp>
      <p:sp>
        <p:nvSpPr>
          <p:cNvPr id="61" name="Shape 59"/>
          <p:cNvSpPr/>
          <p:nvPr/>
        </p:nvSpPr>
        <p:spPr>
          <a:xfrm>
            <a:off x="12382500" y="7663061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2306300" y="7107436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5,057</a:t>
            </a:r>
            <a:endParaRPr lang="en-US" sz="2250" dirty="0"/>
          </a:p>
        </p:txBody>
      </p:sp>
      <p:sp>
        <p:nvSpPr>
          <p:cNvPr id="63" name="Shape 61"/>
          <p:cNvSpPr/>
          <p:nvPr/>
        </p:nvSpPr>
        <p:spPr>
          <a:xfrm>
            <a:off x="15240000" y="7663061"/>
            <a:ext cx="2095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5163800" y="7107436"/>
            <a:ext cx="2171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+2,479</a:t>
            </a:r>
            <a:endParaRPr lang="en-US" sz="2400" dirty="0"/>
          </a:p>
        </p:txBody>
      </p:sp>
      <p:sp>
        <p:nvSpPr>
          <p:cNvPr id="65" name="Shape 63"/>
          <p:cNvSpPr/>
          <p:nvPr/>
        </p:nvSpPr>
        <p:spPr>
          <a:xfrm>
            <a:off x="952500" y="8329811"/>
            <a:ext cx="5143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952500" y="7774186"/>
            <a:ext cx="529780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biztalk</a:t>
            </a:r>
            <a:endParaRPr lang="en-US" sz="2400" dirty="0"/>
          </a:p>
        </p:txBody>
      </p:sp>
      <p:sp>
        <p:nvSpPr>
          <p:cNvPr id="67" name="Shape 65"/>
          <p:cNvSpPr/>
          <p:nvPr/>
        </p:nvSpPr>
        <p:spPr>
          <a:xfrm>
            <a:off x="6477000" y="8329811"/>
            <a:ext cx="2286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0" y="7774186"/>
            <a:ext cx="2362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</a:t>
            </a:r>
            <a:endParaRPr lang="en-US" sz="2250" dirty="0"/>
          </a:p>
        </p:txBody>
      </p:sp>
      <p:sp>
        <p:nvSpPr>
          <p:cNvPr id="69" name="Shape 67"/>
          <p:cNvSpPr/>
          <p:nvPr/>
        </p:nvSpPr>
        <p:spPr>
          <a:xfrm>
            <a:off x="9144000" y="8329811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058275" y="7774186"/>
            <a:ext cx="2943225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1,660</a:t>
            </a:r>
            <a:endParaRPr lang="en-US" sz="2250" dirty="0"/>
          </a:p>
        </p:txBody>
      </p:sp>
      <p:sp>
        <p:nvSpPr>
          <p:cNvPr id="71" name="Shape 69"/>
          <p:cNvSpPr/>
          <p:nvPr/>
        </p:nvSpPr>
        <p:spPr>
          <a:xfrm>
            <a:off x="12382500" y="8329811"/>
            <a:ext cx="2476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2306300" y="7774186"/>
            <a:ext cx="2552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B9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4,138</a:t>
            </a:r>
            <a:endParaRPr lang="en-US" sz="2250" dirty="0"/>
          </a:p>
        </p:txBody>
      </p:sp>
      <p:sp>
        <p:nvSpPr>
          <p:cNvPr id="73" name="Shape 71"/>
          <p:cNvSpPr/>
          <p:nvPr/>
        </p:nvSpPr>
        <p:spPr>
          <a:xfrm>
            <a:off x="15240000" y="8329811"/>
            <a:ext cx="2095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5163800" y="7774186"/>
            <a:ext cx="21717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EC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+2,478</a:t>
            </a:r>
            <a:endParaRPr lang="en-US" sz="2400" dirty="0"/>
          </a:p>
        </p:txBody>
      </p:sp>
      <p:sp>
        <p:nvSpPr>
          <p:cNvPr id="75" name="Text 73"/>
          <p:cNvSpPr/>
          <p:nvPr/>
        </p:nvSpPr>
        <p:spPr>
          <a:xfrm>
            <a:off x="952500" y="8717161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B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Methodological caveat: the table needs a question_count ≥ 100 floor, leaving 5,956 tags. Without it thousands of tags tie at the PageRank floor, share a rank, and produce meaningless deltas.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DELIVERY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Streamlit dashboard: four tabs on Stage 3 outputs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90800"/>
            <a:ext cx="3810000" cy="19050"/>
          </a:xfrm>
          <a:prstGeom prst="rect">
            <a:avLst/>
          </a:prstGeom>
          <a:solidFill>
            <a:srgbClr val="B0543A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57500"/>
            <a:ext cx="41910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397250"/>
            <a:ext cx="4191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authority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2500" y="3987800"/>
            <a:ext cx="392430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175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table plus the connector view, volume floor applied.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5143500" y="2590800"/>
            <a:ext cx="3810000" cy="19050"/>
          </a:xfrm>
          <a:prstGeom prst="rect">
            <a:avLst/>
          </a:prstGeom>
          <a:solidFill>
            <a:srgbClr val="B0543A"/>
          </a:solidFill>
          <a:ln/>
        </p:spPr>
      </p:sp>
      <p:sp>
        <p:nvSpPr>
          <p:cNvPr id="9" name="Text 7"/>
          <p:cNvSpPr/>
          <p:nvPr/>
        </p:nvSpPr>
        <p:spPr>
          <a:xfrm>
            <a:off x="5143500" y="2857500"/>
            <a:ext cx="41910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143500" y="3397250"/>
            <a:ext cx="4191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143500" y="3987800"/>
            <a:ext cx="392430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175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LPA community sizes and membership.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334500" y="2590800"/>
            <a:ext cx="3810000" cy="19050"/>
          </a:xfrm>
          <a:prstGeom prst="rect">
            <a:avLst/>
          </a:prstGeom>
          <a:solidFill>
            <a:srgbClr val="B05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0" y="2857500"/>
            <a:ext cx="41910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334500" y="3397250"/>
            <a:ext cx="4191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Co-occurrence heatmap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334500" y="3987800"/>
            <a:ext cx="392430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175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25 × 25, verified symmetric with zero diagonal.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13525500" y="2590800"/>
            <a:ext cx="3810000" cy="19050"/>
          </a:xfrm>
          <a:prstGeom prst="rect">
            <a:avLst/>
          </a:prstGeom>
          <a:solidFill>
            <a:srgbClr val="B05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3525500" y="2857500"/>
            <a:ext cx="41910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525500" y="3397250"/>
            <a:ext cx="4191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view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3525500" y="3987800"/>
            <a:ext cx="41910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175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edge table.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952500" y="7933929"/>
            <a:ext cx="14287500" cy="9525"/>
          </a:xfrm>
          <a:prstGeom prst="rect">
            <a:avLst/>
          </a:prstGeom>
          <a:solidFill>
            <a:srgbClr val="1A1917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8245079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24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caveat: tab 4 is a table, not a node-link diagram. Network drawing is routed to Gephi via a GEXF export that is still pending — no layout library is installed. We would rather state this than call a table a network visualization.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BLOCKER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user identifier in the processed data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552700"/>
            <a:ext cx="15206662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17"/>
              </a:lnSpc>
              <a:buNone/>
            </a:pPr>
            <a:r>
              <a:rPr lang="en-US" sz="25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processed Parquet schema has no OwnerUserId and no CreationDate. The preprocessing code was written for a different pipeline — a Q&amp;A retrieval dataset — and did not carry those fields through. The committed code can no longer reproduce that exact Parquet; the version that generated it was not saved.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747022"/>
            <a:ext cx="7810500" cy="19050"/>
          </a:xfrm>
          <a:prstGeom prst="rect">
            <a:avLst/>
          </a:prstGeom>
          <a:solidFill>
            <a:srgbClr val="D9806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5032772"/>
            <a:ext cx="85915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UNBUILDABLE FROM THE CURRENT ARTIFACT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57275" y="5610622"/>
            <a:ext cx="7781925" cy="2500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0025" indent="-200025" algn="l">
              <a:lnSpc>
                <a:spcPct val="11682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User–answers–Question edges (Obj. 2)</a:t>
            </a:r>
            <a:endParaRPr lang="en-US" sz="2250" dirty="0"/>
          </a:p>
          <a:p>
            <a:pPr marL="200025" indent="-200025" algn="l">
              <a:lnSpc>
                <a:spcPct val="11682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User–votes–Post edges (Obj. 2)</a:t>
            </a:r>
            <a:endParaRPr lang="en-US" sz="2250" dirty="0"/>
          </a:p>
          <a:p>
            <a:pPr marL="200025" indent="-200025" algn="l">
              <a:lnSpc>
                <a:spcPct val="11682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 over users — the expert leaderboard (Obj. 3, 5)</a:t>
            </a:r>
            <a:endParaRPr lang="en-US" sz="2250" dirty="0"/>
          </a:p>
          <a:p>
            <a:pPr marL="200025" indent="-200025" algn="l">
              <a:lnSpc>
                <a:spcPct val="11682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 vs. reputation comparison (Obj. 3)</a:t>
            </a:r>
            <a:endParaRPr lang="en-US" sz="2250" dirty="0"/>
          </a:p>
          <a:p>
            <a:pPr marL="200025" indent="-200025" algn="l">
              <a:lnSpc>
                <a:spcPct val="11682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temporal and trend analysis (Obj. 5)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0" y="4747022"/>
            <a:ext cx="7810500" cy="19050"/>
          </a:xfrm>
          <a:prstGeom prst="rect">
            <a:avLst/>
          </a:prstGeom>
          <a:solidFill>
            <a:srgbClr val="D9806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5032772"/>
            <a:ext cx="85915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WE SEE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629775" y="5610622"/>
            <a:ext cx="7781925" cy="2233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0025" indent="-200025" algn="l">
              <a:lnSpc>
                <a:spcPct val="11682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preprocessing with the user columns added — requires re-decompressing 104 GB</a:t>
            </a:r>
            <a:endParaRPr lang="en-US" sz="2250" dirty="0"/>
          </a:p>
          <a:p>
            <a:pPr marL="200025" indent="-200025" algn="l">
              <a:lnSpc>
                <a:spcPct val="11682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the downloaded Users.7z / Votes.7z and join on a re-derived key</a:t>
            </a:r>
            <a:endParaRPr lang="en-US" sz="2250" dirty="0"/>
          </a:p>
          <a:p>
            <a:pPr marL="200025" indent="-200025" algn="l">
              <a:lnSpc>
                <a:spcPct val="11682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 re-scope Objectives 2 and 3 to the tag graph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0" y="8015685"/>
            <a:ext cx="85915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9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like your call on this.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SCOPE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scope decisions, with reasons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079750"/>
            <a:ext cx="40005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590800"/>
            <a:ext cx="412051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5524500" y="3079750"/>
            <a:ext cx="28575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524500" y="2590800"/>
            <a:ext cx="29432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8953500" y="3079750"/>
            <a:ext cx="8382000" cy="9525"/>
          </a:xfrm>
          <a:prstGeom prst="rect">
            <a:avLst/>
          </a:prstGeom>
          <a:solidFill>
            <a:srgbClr val="ECE9E4">
              <a:alpha val="3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953500" y="2590800"/>
            <a:ext cx="863346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52500" y="4819650"/>
            <a:ext cx="4000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352800"/>
            <a:ext cx="412051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— Obj. 4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5524500" y="48196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524500" y="3352800"/>
            <a:ext cx="294322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Deferred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953500" y="4819650"/>
            <a:ext cx="8382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953500" y="3352800"/>
            <a:ext cx="86334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 database layer without adding analytical findings. Parquet and Spark SQL already answer the same queries; install cost not justified.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6159500"/>
            <a:ext cx="4000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092700"/>
            <a:ext cx="41205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vs. NetworkX benchmark — Obj. 6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5524500" y="615950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24500" y="5092700"/>
            <a:ext cx="29432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Deferred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8953500" y="6159500"/>
            <a:ext cx="8382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953500" y="5092700"/>
            <a:ext cx="86334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only once the user graph exists. The tag graph is small enough that NetworkX would not lose convincingly.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" y="7537450"/>
            <a:ext cx="4000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6432550"/>
            <a:ext cx="412051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Gephi export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5524500" y="75374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524500" y="6432550"/>
            <a:ext cx="29432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Pending, not dropped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8953500" y="7537450"/>
            <a:ext cx="83820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953500" y="6432550"/>
            <a:ext cx="863346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GEXF writer is a small, well-defined task — planned next.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LESSONS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engineering problems worth reporting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52700"/>
            <a:ext cx="5080000" cy="19050"/>
          </a:xfrm>
          <a:prstGeom prst="rect">
            <a:avLst/>
          </a:prstGeom>
          <a:solidFill>
            <a:srgbClr val="B0543A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19400"/>
            <a:ext cx="55880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36"/>
              </a:lnSpc>
              <a:buNone/>
            </a:pPr>
            <a:r>
              <a:rPr lang="en-US" sz="390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52500" y="3505200"/>
            <a:ext cx="5232400" cy="82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161"/>
              </a:lnSpc>
              <a:buNone/>
            </a:pPr>
            <a:r>
              <a:rPr lang="en-US" sz="2700" b="1" kern="0" spc="-2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3.5.3 is incompatible with Python 3.12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4484291"/>
            <a:ext cx="5232400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175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bundled cloudpickle predates 3.12; every executor dies with no traceback. Fixed by pinning a Python 3.11 venv. The most expensive trap in the project.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604000" y="2552700"/>
            <a:ext cx="5080000" cy="19050"/>
          </a:xfrm>
          <a:prstGeom prst="rect">
            <a:avLst/>
          </a:prstGeom>
          <a:solidFill>
            <a:srgbClr val="B0543A"/>
          </a:solidFill>
          <a:ln/>
        </p:spPr>
      </p:sp>
      <p:sp>
        <p:nvSpPr>
          <p:cNvPr id="9" name="Text 7"/>
          <p:cNvSpPr/>
          <p:nvPr/>
        </p:nvSpPr>
        <p:spPr>
          <a:xfrm>
            <a:off x="6604000" y="2819400"/>
            <a:ext cx="55880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36"/>
              </a:lnSpc>
              <a:buNone/>
            </a:pPr>
            <a:r>
              <a:rPr lang="en-US" sz="390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604000" y="3505200"/>
            <a:ext cx="5232400" cy="82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161"/>
              </a:lnSpc>
              <a:buNone/>
            </a:pPr>
            <a:r>
              <a:rPr lang="en-US" sz="2700" b="1" kern="0" spc="-2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heap exhaustion was lineage, not data volume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04000" y="4484291"/>
            <a:ext cx="5232400" cy="3517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175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sweep held every threshold's iterative lineage alive at once and died serialising a query plan to a string. Proof: w ≥ 5 finished in 4m48s as the first run, then OOM'd on identical input as the third. Fixed by materialising each threshold to staging Parquet and clearing the cache — not by raising driver memory.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2255501" y="2552700"/>
            <a:ext cx="5080000" cy="19050"/>
          </a:xfrm>
          <a:prstGeom prst="rect">
            <a:avLst/>
          </a:prstGeom>
          <a:solidFill>
            <a:srgbClr val="B0543A"/>
          </a:solidFill>
          <a:ln/>
        </p:spPr>
      </p:sp>
      <p:sp>
        <p:nvSpPr>
          <p:cNvPr id="13" name="Text 11"/>
          <p:cNvSpPr/>
          <p:nvPr/>
        </p:nvSpPr>
        <p:spPr>
          <a:xfrm>
            <a:off x="12255501" y="2819400"/>
            <a:ext cx="55880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36"/>
              </a:lnSpc>
              <a:buNone/>
            </a:pPr>
            <a:r>
              <a:rPr lang="en-US" sz="3900" dirty="0">
                <a:solidFill>
                  <a:srgbClr val="B05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2255501" y="3505200"/>
            <a:ext cx="5232400" cy="82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161"/>
              </a:lnSpc>
              <a:buNone/>
            </a:pPr>
            <a:r>
              <a:rPr lang="en-US" sz="2700" b="1" kern="0" spc="-2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semantics we verified rather than assumed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335511" y="4484291"/>
            <a:ext cx="5076190" cy="3620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86690" indent="-186690" algn="l">
              <a:lnSpc>
                <a:spcPct val="118125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Triangle Count on a bipartite graph is identically zero — no odd cycles</a:t>
            </a:r>
            <a:endParaRPr lang="en-US" sz="2100" dirty="0"/>
          </a:p>
          <a:p>
            <a:pPr marL="186690" indent="-186690" algn="l">
              <a:lnSpc>
                <a:spcPct val="118125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 needs symmetrized edges; our store keeps each edge once as src &lt; dst</a:t>
            </a:r>
            <a:endParaRPr lang="en-US" sz="2100" dirty="0"/>
          </a:p>
          <a:p>
            <a:pPr marL="186690" indent="-186690" algn="l">
              <a:lnSpc>
                <a:spcPct val="118125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GraphFrames PageRank and LPA ignore edge weights — flattening weights to 1 gives bit-identical scores</a:t>
            </a:r>
            <a:endParaRPr lang="en-US" sz="2100" dirty="0"/>
          </a:p>
          <a:p>
            <a:pPr marL="186690" indent="-186690" algn="l">
              <a:lnSpc>
                <a:spcPct val="118125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LPA is not Connected Components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NEXT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work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50520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38450"/>
            <a:ext cx="10287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2381250" y="3505200"/>
            <a:ext cx="11620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381250" y="2838450"/>
            <a:ext cx="119691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user-identifier blocker — pending your decision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4478000" y="350520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392275" y="283845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/ TBD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442595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59200"/>
            <a:ext cx="10287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2381250" y="4425950"/>
            <a:ext cx="11620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381250" y="3759200"/>
            <a:ext cx="119691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GEXF export → Gephi layout, sized by authority, colored by community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4478000" y="44259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4392275" y="375920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534670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679950"/>
            <a:ext cx="10287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2381250" y="5346700"/>
            <a:ext cx="11620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381250" y="4679950"/>
            <a:ext cx="119691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LPA for Louvain / modularity to get a non-trivial partition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14478000" y="534670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392275" y="467995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2500" y="626745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600700"/>
            <a:ext cx="10287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2381250" y="6267450"/>
            <a:ext cx="11620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381250" y="5600700"/>
            <a:ext cx="119691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hygiene: .gitignore, commit the pipeline — currently untracked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4478000" y="626745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4392275" y="560070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52500" y="7188200"/>
            <a:ext cx="952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6521450"/>
            <a:ext cx="10287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2381250" y="7188200"/>
            <a:ext cx="11620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381250" y="6521450"/>
            <a:ext cx="119691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 and reproducibility appendix</a:t>
            </a:r>
            <a:endParaRPr lang="en-US" sz="2700" dirty="0"/>
          </a:p>
        </p:txBody>
      </p:sp>
      <p:sp>
        <p:nvSpPr>
          <p:cNvPr id="32" name="Shape 30"/>
          <p:cNvSpPr/>
          <p:nvPr/>
        </p:nvSpPr>
        <p:spPr>
          <a:xfrm>
            <a:off x="14478000" y="7188200"/>
            <a:ext cx="2857500" cy="9525"/>
          </a:xfrm>
          <a:prstGeom prst="rect">
            <a:avLst/>
          </a:prstGeom>
          <a:solidFill>
            <a:srgbClr val="ECE9E4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4392275" y="652145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3200"/>
            <a:ext cx="180213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4294882"/>
            <a:ext cx="5016500" cy="9525"/>
          </a:xfrm>
          <a:prstGeom prst="rect">
            <a:avLst/>
          </a:prstGeom>
          <a:solidFill>
            <a:srgbClr val="ECE9E4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4548882"/>
            <a:ext cx="55181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48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5291832"/>
            <a:ext cx="516699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 across two pipelines, reproducible end to end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6635750" y="4294882"/>
            <a:ext cx="5016500" cy="9525"/>
          </a:xfrm>
          <a:prstGeom prst="rect">
            <a:avLst/>
          </a:prstGeom>
          <a:solidFill>
            <a:srgbClr val="ECE9E4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35750" y="4548882"/>
            <a:ext cx="55181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48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2.58 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635750" y="5291832"/>
            <a:ext cx="516699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and 1.47 M weighted edges from 7.0 M records — all four algorithms at full dump scale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12319000" y="4294882"/>
            <a:ext cx="5016500" cy="9525"/>
          </a:xfrm>
          <a:prstGeom prst="rect">
            <a:avLst/>
          </a:prstGeom>
          <a:solidFill>
            <a:srgbClr val="ECE9E4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319000" y="4548882"/>
            <a:ext cx="55181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4800" dirty="0">
                <a:solidFill>
                  <a:srgbClr val="D98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319000" y="5291832"/>
            <a:ext cx="516699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dirty="0">
                <a:solidFill>
                  <a:srgbClr val="CFCA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limitation blocking the user-centric objectives; scope decisions documented with reasons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952500" y="8655050"/>
            <a:ext cx="16383000" cy="9525"/>
          </a:xfrm>
          <a:prstGeom prst="rect">
            <a:avLst/>
          </a:prstGeom>
          <a:solidFill>
            <a:srgbClr val="ECE9E4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9004300"/>
            <a:ext cx="7396679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kern="0" spc="-36" dirty="0">
                <a:solidFill>
                  <a:srgbClr val="EC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697943" y="9156700"/>
            <a:ext cx="4001314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F8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 Dhondge · Ayush Kumar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2030</Words>
  <Application>Microsoft Office PowerPoint</Application>
  <PresentationFormat>Custom</PresentationFormat>
  <Paragraphs>332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 Dhondge</cp:lastModifiedBy>
  <cp:revision>2</cp:revision>
  <dcterms:created xsi:type="dcterms:W3CDTF">2026-08-27T07:39:46Z</dcterms:created>
  <dcterms:modified xsi:type="dcterms:W3CDTF">2026-08-27T09:30:03Z</dcterms:modified>
</cp:coreProperties>
</file>